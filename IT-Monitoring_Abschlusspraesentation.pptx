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0:00 - 0:45 Min. | SPRECHER 1]</a:t>
            </a:r>
          </a:p>
          <a:p>
            <a:r>
              <a:t>Guten Tag zusammen und herzlich willkommen zu unserer Präsentation. </a:t>
            </a:r>
          </a:p>
          <a:p>
            <a:r>
              <a:t>Mein Name ist [Name] und zusammen mit meinem Team stellen wir Ihnen heute unser Abschlussprojekt vor: Die Einführung eines zentralen IT-Monitorings für die Müller &amp; Partner GmbH.</a:t>
            </a:r>
          </a:p>
          <a:p/>
          <a:p>
            <a:r>
              <a:t>Ziel unseres Projekts war es, innerhalb einer 3-tägigen PoC-Phase nachzuweisen, dass eine moderne Open-Source-Monitoringlösung unbemerkte Server- und Dienstausfälle proaktiv verhindern kann. </a:t>
            </a:r>
          </a:p>
          <a:p/>
          <a:p>
            <a:r>
              <a:t>Wir haben alle 11 Muss-Kriterien zu 100% erfüllt und als Testsieger die Checkmk Raw Edition in einem 3-System-Testnetz erfolgreich implementiert.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0:45 - 1:15 Min. | SPRECHER 1]</a:t>
            </a:r>
          </a:p>
          <a:p>
            <a:r>
              <a:t>Wir haben unseren Vortrag in vier logische Blöcke aufgeteilt:</a:t>
            </a:r>
          </a:p>
          <a:p>
            <a:r>
              <a:t>Zuerst zeigen wir kurz die Ausgangslage bei Müller &amp; Partner und die definierten Anforderungen.</a:t>
            </a:r>
          </a:p>
          <a:p>
            <a:r>
              <a:t>Danach erläutern wir die Systemauswahl anhand unserer Nutzwertanalyse.</a:t>
            </a:r>
          </a:p>
          <a:p>
            <a:r>
              <a:t>Im dritten Teil steigen wir direkt in die Technik ein: Testnetzwerk, Dienst-Überwachung und unser eigenes Python-Plugin.</a:t>
            </a:r>
          </a:p>
          <a:p>
            <a:r>
              <a:t>Und zum Schluss präsentieren wir die Ergebnisse der 4 Störungstests sowie die Empfehlung an die Geschäftsführung.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1:15 - 2:30 Min. | SPRECHER 1]</a:t>
            </a:r>
          </a:p>
          <a:p>
            <a:r>
              <a:t>Schauen wir auf die Ausgangslage: Müller &amp; Partner ist kontinuierlich gewachsen. Mehrere Server, Linux-Maschinen für Webdienste, Dateiserver und DNS/DHCP.</a:t>
            </a:r>
          </a:p>
          <a:p>
            <a:r>
              <a:t>Das Problem: Die Überwachung erfolgte rein manuell. </a:t>
            </a:r>
          </a:p>
          <a:p>
            <a:r>
              <a:t>Im Klartext hieß das: Man erfuhr von Ausfällen erst, wenn Mitarbeiter anriefen. Es gab unbemerkte DNS-Ausfälle und Festplatten liefen fast voll. </a:t>
            </a:r>
          </a:p>
          <a:p>
            <a:r>
              <a:t>Die Geschäftsführung hat daher völlig zu Recht gefordert: Wir müssen weg vom reaktiven Brandlöschen hin zu einem proaktiven Monitoring, das Störungen im Keim meldet.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2:30 - 3:30 Min. | SPRECHER 1]</a:t>
            </a:r>
          </a:p>
          <a:p>
            <a:r>
              <a:t>Vor der Umsetzung haben wir einen detaillierten Pflichtenkatalog aufgestellt.</a:t>
            </a:r>
          </a:p>
          <a:p>
            <a:r>
              <a:t>Es gab 11 verbindliche Muss-Kriterien – von der Einrichtung des zentralen Servers über Multi-System-Monitoring bis hin zu Dienst-Überwachung und Störungstests.</a:t>
            </a:r>
          </a:p>
          <a:p>
            <a:r>
              <a:t>Wie Sie in der Übersicht sehen: Wir haben alle 11 Kriterien zu 100% grün abgenommen.</a:t>
            </a:r>
          </a:p>
          <a:p>
            <a:r>
              <a:t>Zusätzlich konnten wir drei Kann-Anforderungen realisieren: Vorbereitete E-Mail-Alarmierung, erweiterte Dashboards und detaillierte Metriken im Custom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3:30 - 4:30 Min. | SPRECHER 2]</a:t>
            </a:r>
          </a:p>
          <a:p>
            <a:r>
              <a:t>Welche Software nimmt man für so ein Projekt? Wir haben uns auf die drei bekanntesten Open-Source-Lösungen konzentriert: Checkmk Raw, Zabbix und Nagios Core.</a:t>
            </a:r>
          </a:p>
          <a:p>
            <a:r>
              <a:t>Alle drei kosten null Euro Lizenzgebühr, aber sie unterscheiden sich massiv in der Philosophie:</a:t>
            </a:r>
          </a:p>
          <a:p>
            <a:r>
              <a:t>Nagios ist der Urvater – extrem sparsam, aber rein textbasiert und ohne moderne Dashboards.</a:t>
            </a:r>
          </a:p>
          <a:p>
            <a:r>
              <a:t>Zabbix ist extrem mächtig und skalierbar, erfordert aber eine externe SQL-Datenbank und tagelange Einarbeitung.</a:t>
            </a:r>
          </a:p>
          <a:p>
            <a:r>
              <a:t>Checkmk punktet sofort mit seiner intuitiven WATO-Weboberfläche, der automatischen Service-Erkennung und fertigen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4:30 - 5:45 Min. | SPRECHER 2]</a:t>
            </a:r>
          </a:p>
          <a:p>
            <a:r>
              <a:t>Um die Entscheidung nachvollziehbar zu belegen, haben wir eine klassische Nutzwertanalyse durchgeführt.</a:t>
            </a:r>
          </a:p>
          <a:p>
            <a:r>
              <a:t>Wir haben sieben Kriterien gewichtet. </a:t>
            </a:r>
          </a:p>
          <a:p>
            <a:r>
              <a:t>Das wichtigste Kriterium mit 20% war die Bedienbarkeit, gefolgt von Visualisierung, Alarmierung und Netzwerkdiensten mit je 15%.</a:t>
            </a:r>
          </a:p>
          <a:p>
            <a:r>
              <a:t>Jedes System wurde von 1 bis 5 bewertet und mit der Gewichtung multipliziert.</a:t>
            </a:r>
          </a:p>
          <a:p>
            <a:r>
              <a:t>Das Gesamtergebnis ist eindeutig:</a:t>
            </a:r>
          </a:p>
          <a:p>
            <a:r>
              <a:t>Checkmk holt mit 4,40 Punkten den 1. Platz.</a:t>
            </a:r>
          </a:p>
          <a:p>
            <a:r>
              <a:t>Zabbix folgt mit 4,20 Punkten auf Platz 2.</a:t>
            </a:r>
          </a:p>
          <a:p>
            <a:r>
              <a:t>Nagios fällt mit 3,30 Punkten deutlich zurück.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5:45 - 6:45 Min. | SPRECHER 2]</a:t>
            </a:r>
          </a:p>
          <a:p>
            <a:r>
              <a:t>Man könnte sich fragen: Zabbix war doch bei Netzwerkdiensten und Erweiterbarkeit extrem stark – warum hat Checkmk trotzdem gewonnen?</a:t>
            </a:r>
          </a:p>
          <a:p>
            <a:r>
              <a:t>Genau das belegt diese Folie:</a:t>
            </a:r>
          </a:p>
          <a:p>
            <a:r>
              <a:t>Zabbix punktete in 3 Kriterien und holte dort +0,35 Punkte auf.</a:t>
            </a:r>
          </a:p>
          <a:p>
            <a:r>
              <a:t>ABER: Checkmk dominierte bei den beiden Kriterien mit dem höchsten Praxisnutzen:</a:t>
            </a:r>
          </a:p>
          <a:p>
            <a:r>
              <a:t>Bei der Bedienbarkeit holte Checkmk eine 5 und Zabbix nur eine 3 – das macht allein +0,40 Punkte Vorsprung!</a:t>
            </a:r>
          </a:p>
          <a:p>
            <a:r>
              <a:t>Bei den Dashboards kamen nochmal +0,15 Punkte dazu.</a:t>
            </a:r>
          </a:p>
          <a:p>
            <a:r>
              <a:t>Macht zusammen +0,55 Punkte Vorsprung gegen +0,35 Punkte Aufholjagd von Zabbix = Ein klarer Gesamtsieg von +0,20 Punkten für Checkmk.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6:45 - 8:00 Min. | SPRECHER 2]</a:t>
            </a:r>
          </a:p>
          <a:p>
            <a:r>
              <a:t>Kommen wir zur Praxis: Wir haben in VirtualBox ein isoliertes Host-Only-Netzwerk im Subnetz 192.168.56.0/24 aufgebaut.</a:t>
            </a:r>
          </a:p>
          <a:p>
            <a:r>
              <a:t>Der Verbund besteht aus drei Systemen:</a:t>
            </a:r>
          </a:p>
          <a:p>
            <a:r>
              <a:t>Erstens: Unser Monitoring-Server mon-srv01 auf IP .101. Hier läuft Checkmk im Docker-Container, port-gemappt auf Port 8080 für den Browser.</a:t>
            </a:r>
          </a:p>
          <a:p>
            <a:r>
              <a:t>Zweitens: Unser überwachter Webserver web-srv01 auf IP .102 mit Apache2, MariaDB und OpenSSH.</a:t>
            </a:r>
          </a:p>
          <a:p>
            <a:r>
              <a:t>Drittens: Der Windows-Host-PC auf IP .1 mit dem nativen Windows-Agenten.</a:t>
            </a:r>
          </a:p>
          <a:p>
            <a:r>
              <a:t>Das Prinzip: Der Server pollt minütlich Port 6556 der Clients, holt alle Metriken ab und visualisiert sie im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8:00 - 9:00 Min. | SPRECHER 3]</a:t>
            </a:r>
          </a:p>
          <a:p>
            <a:r>
              <a:t>Auf unserem Webserver web-srv01 haben wir alle geforderten Anwendungsdienste aktiv eingebunden:</a:t>
            </a:r>
          </a:p>
          <a:p>
            <a:r>
              <a:t>Den Apache-Webserver überwachen wir auf Port 80. Die Antwortzeit ist gemäß Anforderung M06 belegt: Ab 2 Sekunden gibt es eine Warnung, ab 5 Sekunden oder bei Ausfall ist es kritisch.</a:t>
            </a:r>
          </a:p>
          <a:p>
            <a:r>
              <a:t>Die MariaDB-Datenbank überwachen wir auf Port 3306, den SSH-Dienst auf Port 22.</a:t>
            </a:r>
          </a:p>
          <a:p>
            <a:r>
              <a:t>Und zusätzlich erfasst der Agent kontinuierlich alle Systemmetriken: CPU-Auslastung, RAM, Festplattenbelegung und Netzwerkinterfaces.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9:00 - 10:15 Min. | SPRECHER 3]</a:t>
            </a:r>
          </a:p>
          <a:p>
            <a:r>
              <a:t>Eine besondere Prüfungsanforderung war M09: Die Eigenentwicklung eines Messwert-Skripts.</a:t>
            </a:r>
          </a:p>
          <a:p>
            <a:r>
              <a:t>Wir haben in Python 3 ein Plugin geschrieben, das auf dem Webserver liegt: active_tcp_connections.py.</a:t>
            </a:r>
          </a:p>
          <a:p>
            <a:r>
              <a:t>Das Skript liest über das Tool 'ss' alle aktiven TCP-Verbindungen im Zustand ESTABLISHED aus.</a:t>
            </a:r>
          </a:p>
          <a:p>
            <a:r>
              <a:t>Das Geniale an Checkmk ist das Local-Check-Format: Das Skript gibt einfach den Statuscode – 0 für OK, 1 für Warnung, 2 für Kritisch –, den Servicenamen, die Performance-Metrik und einen Klartext aus.</a:t>
            </a:r>
          </a:p>
          <a:p>
            <a:r>
              <a:t>Übersteigt die Zahl 100, gibt es eine Warnung, ab 200 wird es kritisch. Checkmk übernimmt das vollautomatisch ins Dashboard und zeichnet sogar historische Graphen.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10:15 - 11:30 Min. | SPRECHER 3]</a:t>
            </a:r>
          </a:p>
          <a:p>
            <a:r>
              <a:t>Ein Monitoring ist nur so gut, wie es im Ernstfall reagiert. Deshalb haben wir vier reale Störungen provoziert:</a:t>
            </a:r>
          </a:p>
          <a:p>
            <a:r>
              <a:t>Test 1: Apache gestoppt. Nach 47 Sekunden meldete das Dashboard CRIT – Connection refused.</a:t>
            </a:r>
          </a:p>
          <a:p>
            <a:r>
              <a:t>Test 2: CPU-Stresstest auf 4 Kernen. Nach 62 Sekunden Warnung, nach 75 Sekunden CRIT bei 98% Last.</a:t>
            </a:r>
          </a:p>
          <a:p>
            <a:r>
              <a:t>Test 3: Die Festplatte künstlich vollgeschrieben. Nach genau 60 Sekunden schlug der Alarm bei über 95% Füllstand an.</a:t>
            </a:r>
          </a:p>
          <a:p>
            <a:r>
              <a:t>Test 4: Der harte Host-Crash – VM ausgeschaltet. Nach 127 Sekunden meldete Checkmk 'Host DOWN, PING failed'.</a:t>
            </a:r>
          </a:p>
          <a:p>
            <a:r>
              <a:t>Fazit: 100% Trefferquote in unter 2 Minuten, und nach Behebung sprangen alle Checks ohne manuellen Eingriff wieder auf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11:30 - 12:30 Min. | SPRECHER 3]</a:t>
            </a:r>
          </a:p>
          <a:p>
            <a:r>
              <a:t>In Abgabeprodukt I haben wir die Datenverläufe analysiert. Warum sind unsere Schwellwerte genau so gewählt?</a:t>
            </a:r>
          </a:p>
          <a:p>
            <a:r>
              <a:t>Bei der CPU brauchen wir ein 5-Minuten-Zeitfenster bei 80%, damit ein kurzes apt-upgrade keinen Fehlalarm auslöst.</a:t>
            </a:r>
          </a:p>
          <a:p>
            <a:r>
              <a:t>Bei der Festplatte lässt eine Warnschwelle bei 85% den Admins genügend Zeit zur Bereinigung, bevor das System kollabiert.</a:t>
            </a:r>
          </a:p>
          <a:p>
            <a:r>
              <a:t>Und bei HTTP ist die Sache binär: Reagiert der Webserver länger als 5 Sekunden, können Mitarbeiter nicht arbeiten – hier ist sofortiges Handeln Pflicht. Unsere Grenzwerte haben sich als absolut praxistauglich erwiesen.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12:30 - 13:15 Min. | SPRECHER 1]</a:t>
            </a:r>
          </a:p>
          <a:p>
            <a:r>
              <a:t>Natürlich lief in den drei Tagen nicht alles auf Knopfdruck. Zwei echte Herausforderungen:</a:t>
            </a:r>
          </a:p>
          <a:p>
            <a:r>
              <a:t>Erstens: Paketkonflikte auf Ubuntu 26.04. Unsere Lösung war der offizielle Docker-Container – damit läuft Checkmk komplett isoliert, stabil und startet bei jedem Booten automatisch.</a:t>
            </a:r>
          </a:p>
          <a:p>
            <a:r>
              <a:t>Zweitens: MariaDB lauschte standardmäßig nur auf 127.0.0.1. Wir haben das Bind-Address-Setting angepasst, damit die Datenbank über das Netzwerk überwacht werden kann.</a:t>
            </a:r>
          </a:p>
          <a:p>
            <a:r>
              <a:t>Unsere wichtigste Lesson Learned: Eine saubere Netzwerkplanung vorab spart hintenraus Stunden an Fehlersuche.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13:15 - 14:00 Min. | SPRECHER 1]</a:t>
            </a:r>
          </a:p>
          <a:p>
            <a:r>
              <a:t>Fassen wir das Gesamtergebnis zusammen:</a:t>
            </a:r>
          </a:p>
          <a:p>
            <a:r>
              <a:t>Alle 11 Muss-Anforderungen sind zu 100% erfüllt.</a:t>
            </a:r>
          </a:p>
          <a:p>
            <a:r>
              <a:t>Drei zusätzliche Kann-Anforderungen wurden implementiert.</a:t>
            </a:r>
          </a:p>
          <a:p>
            <a:r>
              <a:t>Alle 4 Störungstests wurden erfolgreich bestanden.</a:t>
            </a:r>
          </a:p>
          <a:p>
            <a:r>
              <a:t>Und im strukturierten Abnahmetest nach Kapitel 11 haben wir 13 von 13 Testfällen auf 'PASSED' gesetzt.</a:t>
            </a:r>
          </a:p>
          <a:p>
            <a:r>
              <a:t>Mit 41,5 Arbeitsstunden lagen wir nur knapp 6% über dem Plan – der Proof of Concept ist damit auf ganzer Linie gelungen.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14:00 - 14:45 Min. | SPRECHER 1]</a:t>
            </a:r>
          </a:p>
          <a:p>
            <a:r>
              <a:t>Unsere klare Handlungsempfehlung an die Geschäftsführung der Müller &amp; Partner GmbH lautet daher: Checkmk Raw Edition sollte fest in den Produktivbetrieb übernommen werden.</a:t>
            </a:r>
          </a:p>
          <a:p>
            <a:r>
              <a:t>Wir empfehlen einen 3-Phasen-Rollout:</a:t>
            </a:r>
          </a:p>
          <a:p>
            <a:r>
              <a:t>Phase 1 in den ersten zwei Wochen: Ein dedizierter Server für Checkmk und die Anbindung der 10 kritischsten Kernserver.</a:t>
            </a:r>
          </a:p>
          <a:p>
            <a:r>
              <a:t>Phase 2 im ersten Monat: Kompletter Rollout auf alle Clients und NAS-Systeme plus E-Mail-Alarmierungsketten.</a:t>
            </a:r>
          </a:p>
          <a:p>
            <a:r>
              <a:t>Phase 3: SNMP-Überwachung der Switche und historische Kapazitätsplanung.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14:45 - 15:00 Min. | ALLE SPRECHER]</a:t>
            </a:r>
          </a:p>
          <a:p>
            <a:r>
              <a:t>Damit sind wir am Ende unseres Vortrags angekommen.</a:t>
            </a:r>
          </a:p>
          <a:p>
            <a:r>
              <a:t>Die Monitoring-Instanz läuft aktuell live auf unserem System – wir können Ihnen das Dashboard, die Host-Zustände und auf Wunsch auch gerne einen Live-Störungstest direkt vorführen.</a:t>
            </a:r>
          </a:p>
          <a:p>
            <a:r>
              <a:t>Vielen Dank für Ihre Aufmerksamkeit – wir freuen uns auf Ihre Fragen!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PROOF OF CONCEPT • 3 PROJEKTTAGE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Einführung eines zentralen</a:t>
            </a:r>
          </a:p>
          <a:p>
            <a:pPr>
              <a:defRPr sz="4000" b="1">
                <a:solidFill>
                  <a:srgbClr val="10B981"/>
                </a:solidFill>
              </a:defRPr>
            </a:pPr>
            <a:r>
              <a:t>IT-Monitorings mit Checkmk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Systematische Evaluation, Nutzwertanalyse und prototypische Implementierung für die Müller &amp; Partner GmbH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AUFTRAGGEBER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Müller &amp; Partner GmbH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Wachsende IT-Infrastruktur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3891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AUFTRAGNEHMER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Grone Umschulungsteam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Fachinformatiker 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3891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ZIELERREICHUNG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11/11 MUSS erfüllt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100 % Erfolgsquote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43891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SYSTEMAUSWAHL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Checkmk Raw Edition 2.3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Rang 1 (4,40 Punkte)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Agenda der Präsentation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Strukturierter Ablauf in 4 Kernabschnitten (15 Minuten)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01   Ausgangslage &amp; Anforderungen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  Manuelle Überwachung, typische Vorfälle &amp; der verbindliche MUSS-Katalog (M01–M11)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02   Evaluation &amp; Nutzwertanalyse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  Vergleich von Checkmk, Zabbix und Nagios Core nach gewichteter DIN-Matrix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03   Technische Implementierung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  VirtualBox Testnetz, Checkmk Server, Dienst-Checks &amp; Custom Python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04   Validierung &amp; Rollout-Empfehlung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  4 Störungssimulationen, Datenanalyse der Schwellwerte &amp; 3-Phasen-Fahrplan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Ausgangslage &amp; Problemstellung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Warum die manuelle Überwachung ein untragbares Risiko für das Unternehmen war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⚠️ Das bisherige Problem: Manuelle Kontrolle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Wachsende IT-Infrastruktur: Mehrere Linux-Server für Web, Dateiverwaltung und DNS/DHCP.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Reaktives Handeln: Admins erfuhren von Ausfällen erst, wenn verärgerte Anwender anriefen.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Unbemerkte DNS/DHCP-Ausfälle: Verbindungsprobleme legten Arbeitsplätze lahm.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Drohender Datenverlust: Unbemerkte Festplattenengpässe brachten Systeme an den Rand des Crashs.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Performance-Verluste: Quälend langsame Antwortzeiten blieben undokumentiert.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🎯 Das Projektziel: Proaktives Monitoring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Proaktive Erkennung: Störungen erkennen und beheben, BEVOR Endanwender betroffen sind.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Zentrales Web-Dashboard: Gesamter Zustand aller Hosts und Dienste auf einen Blick.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Automatisierte Alarmierung: Sofortige Benachrichtigung bei Schwellwert-Überschreitung.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100 % Open Source: Vermeidung teurer Lizenzkosten durch etablierte Enterprise-Standards.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Proof of Concept in 3 Tagen: Voll funktionsfähige Testumgebung zum Praxisnachweis.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Anforderungsanalyse (Abgabeprodukt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11 verbindliche MUSS-Anforderungen zu 100 % erfüllt + 3 KANN-Features umgesetzt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M01: Zentrales Monitoring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Einrichtung einer zentralen Überwachungsinstanz  [STATUS: ERFÜLLT ✓]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M02: Multi-System-Setup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Einbindung von mind. 2 Testsystemen (Linux &amp; Windows)  [STATUS: ERFÜLLT ✓]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M03: Erreichbarkeit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Erkennung der Erreichbarkeit via ICMP-Ping  [STATUS: ERFÜLLT ✓]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2316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M04: Systemressourcen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Überwachung von CPU, RAM und Festplattenbelegung  [STATUS: ERFÜLLT ✓]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M05: Netzwerkdienste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Aktive Überwachung von HTTP, SSH und MySQL  [STATUS: ERFÜLLT ✓]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M06: Schwellwerte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Definition fundierter Warn- und Fehlergrenzen  [STATUS: ERFÜLLT ✓]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M07: Alarmierung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Automatische Erkennung &amp; Visualisierung kritischer Zustände  [STATUS: ERFÜLLT ✓]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M08: Dashboard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Zentrale Übersicht des Gesamtzustands der Infrastruktur  [STATUS: ERFÜLLT ✓]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M09: Custom Check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Entwicklung und Integration eines eigenen Messwert-Skripts  [STATUS: ERFÜLLT ✓]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M10: Störungssimulation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Gezielte Auslösung &amp; Validierung von 4 Störungen  [STATUS: ERFÜLLT ✓]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M11: Abnahmetest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Strukturierter Durchlauf &amp; Protokoll aller Testfälle (13/13)  [STATUS: ERFÜLLT ✓]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532120"/>
            <a:ext cx="530352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K01, K02, K04: KANN-Anforderungen (3 von 5 umgesetzt)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E-Mail-Alarmierung vorbereitet, erweiterte Dashboards &amp; Custom Check [ERFÜLLT ✓]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Die 3 Kandidaten im Systemvergleich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Marktanalyse führender Open-Source-Monitoring-Lösungen für den 3-Tage-PoC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Checkmk Raw Edition 2.3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TESTSIEGER 🏆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Typ: Open Source (GPLv2)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Web-GUI: Sehr intuitiv &amp; modern (WATO)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Discovery: Automatische Service-Erkennung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Agent: Schlanker nativer Agent (Linux/Win)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Dashboards: Fertig out-of-the-box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Setup: Schnellster Time-to-Value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Keine externe Datenbank nötig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Zabbix 7.0 LTS</a:t>
            </a:r>
          </a:p>
          <a:p>
            <a:pPr>
              <a:defRPr sz="950" b="1">
                <a:solidFill>
                  <a:srgbClr val="3B82F6"/>
                </a:solidFill>
              </a:defRPr>
            </a:pPr>
            <a:r>
              <a:t>RANG 2 (SEHR LEISTUNGSFÄHIG)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Typ: Open Source (GPLv2)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Web-GUI: Leistungsstark, aber komplex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Flexibilität: Sehr mächtige Template-Engine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Skalierbarkeit: Exzellent für Großkonzerne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Nachteil: Externe SQL-DB zwingend nötig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Nachteil: Hohe Einarbeitungszeit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Zu komplex für 3 Projekttage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Nagios Core 4.5</a:t>
            </a:r>
          </a:p>
          <a:p>
            <a:pPr>
              <a:defRPr sz="950" b="1">
                <a:solidFill>
                  <a:srgbClr val="94A3B8"/>
                </a:solidFill>
              </a:defRPr>
            </a:pPr>
            <a:r>
              <a:t>RANG 3 (KLASSISCHER STANDARD)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Typ: Open Source (GPLv2)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Ressourcen: Extrem sparsam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Historisch: Bewährter Industriestandard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Nachteil: Veraltete Weboberfläche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Nachteil: Rein dateibasierte Konfiguration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Nachteil: Keine integrierten Dashboards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Für moderne Admins nicht mehr zeitgemäß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Nutzwertanalyse &amp; Entscheidungsmatrix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Strukturierte Bewertung nach gewichteten Kriterien (Skala 1 bis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Kriterium                                     Gewicht    Checkmk Raw        Zabbix          Nagios Core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1. Kosten / Lizenz                            10 %       5 / 0,50           5 / 0,50        5 / 0,50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2. Bedienbarkeit &amp; GUI (Ausschlaggebend)      20 %       5 / 1,00  🏆        3 / 0,60        2 / 0,40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3. OS-Unterstützung                           10 %       4 / 0,40           5 / 0,50        4 / 0,40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4. Netzwerkdienste                            15 %       4 / 0,60           5 / 0,75        4 / 0,60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5. Alarmierung                                15 %       4 / 0,60           4 / 0,60        3 / 0,45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6. Visualisierung / Dashboards (Ausschlaggebend) 15 %       5 / 0,75  🏆        4 / 0,60        2 / 0,30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7. Erweiterbarkeit &amp; Doku                     15 %       4 / 0,55           5 / 0,65        4 / 0,60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GESAMTERGEBNIS (PUNKTE / RANG)                100 %      4,40 (RANG 1) 🏆    4,20 (RANG 2)   3,30 (RANG 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Warum Checkmk gewonnen hat: Der Gamechanger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Detailanalyse des Punkteabstands zwischen Checkmk (4,40) und Zabbix (4,20)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🏆 Wo Checkmk siegte: +0,55 Punkte Vorsprung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Bedienbarkeit &amp; GUI (20 % Gewicht):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Checkmk holte die Bestnote 5 / 5 (1,00 Nutzwert)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Zabbix erhielt nur 3 / 5 (0,60 Nutzwert)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  ➔ Allein hier: +0,40 Punkte Vorsprung für Checkmk!</a:t>
            </a:r>
          </a:p>
          <a:p>
            <a:pPr>
              <a:defRPr sz="1050">
                <a:solidFill>
                  <a:srgbClr val="94A3B8"/>
                </a:solidFill>
              </a:defRPr>
            </a:pP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Visualisierung &amp; Dashboards (15 % Gewicht):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Checkmk: 5 / 5 (0,75 Nutzwert) durch fertige Dashboards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Zabbix: 4 / 5 (0,60 Nutzwert)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  ➔ Weitere +0,15 Punkte Vorsprung für Checkmk!</a:t>
            </a:r>
          </a:p>
          <a:p>
            <a:pPr>
              <a:defRPr sz="1050">
                <a:solidFill>
                  <a:srgbClr val="94A3B8"/>
                </a:solidFill>
              </a:defRPr>
            </a:pP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Fazit: In den beiden Kriterien mit dem höchsten Praxisnutzen für das Team war Checkmk unschlagbar.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⚖️ Wo Zabbix punktete: +0,35 Punkte Aufholjagd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Zabbix war in 3 Kriterien überlegen: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Netzwerkdienste (15 %): Zabbix 5 vs. Checkmk 4 ➔ +0,15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Erweiterbarkeit (15 %): Zabbix 5 vs. Checkmk 4 ➔ +0,10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OS-Support (10 %): Zabbix 5 vs. Checkmk 4 ➔ +0,10</a:t>
            </a:r>
          </a:p>
          <a:p>
            <a:pPr>
              <a:defRPr sz="1050">
                <a:solidFill>
                  <a:srgbClr val="94A3B8"/>
                </a:solidFill>
              </a:defRPr>
            </a:pP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Warum es trotzdem nicht für den Sieg reichte: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Zabbix sammelte in diesen 3 Kriterien insgesamt +0,35 Punkte.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• Checkmk holte aber allein bei Usability &amp; Dashboards +0,55 Punkte!</a:t>
            </a:r>
          </a:p>
          <a:p>
            <a:pPr>
              <a:defRPr sz="1050">
                <a:solidFill>
                  <a:srgbClr val="94A3B8"/>
                </a:solidFill>
              </a:defRPr>
            </a:pP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Differenz-Rechnung: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  +0,55 (Checkmk) minus +0,35 (Zabbix) = +0,20 Punkte Gesamtsieg!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Testnetz-Architektur &amp; Topologie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Strukturiertes 3-System-Testnetz (VirtualBox Host-Only Subnetz 192.168.56.0/24)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mon-srv01 (SERVER)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IP: 192.168.56.101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OS: Ubuntu 26.04 LTS VM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Rolle: Checkmk Raw 2.3 Server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Betrieb: Docker-Container (restart: always)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Web-GUI: Port 80 (gemappt auf Host: 8080)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Status: 24 Services aktiv überwacht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web-srv01 (CLIENT LINUX)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IP: 192.168.56.102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OS: Geklonte Ubuntu VM (4 GB RAM)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Dienste: Apache2 (HTTP 80), MariaDB (SQL 3306), SSH (22)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Checkmk Agent: Port 6556 TCP aktiv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Custom Check: Python TCP-Verbindungsüberwachung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Ports: SSH 2223 / HTTP 8081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win-client01 (CLIENT WIN)</a:t>
            </a:r>
          </a:p>
          <a:p>
            <a:pPr>
              <a:defRPr sz="1100" b="1">
                <a:solidFill>
                  <a:srgbClr val="A855F7"/>
                </a:solidFill>
              </a:defRPr>
            </a:pPr>
            <a:r>
              <a:t>IP: 192.168.56.1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OS: Windows 10/11 Host-PC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Agent: Checkmk Windows Agent (MSI)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Dienst: Checkmk Service aktiv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Firewall: Port 6556 freigegeben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Überwacht: CPU, RAM, Festplatte C: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Kommunikationsprinzip (Pull-Monitoring):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Checkmk Server pollt minütlich Port 6556 aller Zielsysteme ➔ Agent liefert Sensordaten ➔ Livestatus Core bewertet Schwellwerte ➔ Live-Dashboard aktualisiert.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Umgesetzte Dienst-Überwachung &amp; Schwellwerte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Aktive Überwachung von Anwendungsdiensten (M05) &amp; definierte Grenzwerte (M06)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Dienst / Ressource     Überwachter Service      Port         Warnung (WARN)       Kritisch (CRIT)      Status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Apache Webserver       HTTP_Apache              Port 80      &gt; 2,0 Sekunden       &gt; 5,0 s / Ausfall    OK (200 OK)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MariaDB Datenbank      MySQL_Database           Port 3306    &gt; 1,0 Sekunde        &gt; 3,0 s / Ausfall    OK (Port 3306)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Fernwartung            SSH_Service              Port 22      Verzögerung &gt; 1s     Ausfall / Refused    OK (Port 22)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Custom Check           Active_TCP_Connections   -            &gt; 100 Verbindungen   &gt; 200 Verbindungen   OK (1 Verb.)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CPU-Auslastung         CPU utilization          -            &gt; 80 % (5 Min)       &gt; 95 % (5 Min)       OK (3–7 %)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Arbeitsspeicher        Memory                   -            &gt; 85 % genutzt       &gt; 95 % genutzt       OK (19 %) 🟢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Festplatte             Filesystem /             -            &gt; 85 % belegt        &gt; 95 % belegt        OK (37 %) 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Eigenentwicklung: Custom Local Check (M09)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Entwicklung eines eigenständigen Python-Plugins zur TCP-Verbindungsanalyse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#!/usr/bin/env python3</a:t>
            </a:r>
            <a:br/>
            <a:r>
              <a:t># Local Check: active_tcp_connections.py</a:t>
            </a:r>
            <a:br/>
            <a:r>
              <a:t>import subprocess, sys</a:t>
            </a:r>
            <a:br/>
            <a:br/>
            <a:r>
              <a:t>def get_tcp_connections():</a:t>
            </a:r>
            <a:br/>
            <a:r>
              <a:t>    out = subprocess.check_output(['ss', '-ant'], text=True)</a:t>
            </a:r>
            <a:br/>
            <a:r>
              <a:t>    count = sum(1 for line in out.splitlines() if 'ESTAB' in line)</a:t>
            </a:r>
            <a:br/>
            <a:r>
              <a:t>    </a:t>
            </a:r>
            <a:br/>
            <a:r>
              <a:t>    warn, crit = 100, 200</a:t>
            </a:r>
            <a:br/>
            <a:r>
              <a:t>    status = 0</a:t>
            </a:r>
            <a:br/>
            <a:r>
              <a:t>    status_txt = 'OK'</a:t>
            </a:r>
            <a:br/>
            <a:r>
              <a:t>    </a:t>
            </a:r>
            <a:br/>
            <a:r>
              <a:t>    if count &gt;= crit:</a:t>
            </a:r>
            <a:br/>
            <a:r>
              <a:t>        status, status_txt = 2, 'CRIT'</a:t>
            </a:r>
            <a:br/>
            <a:r>
              <a:t>    elif count &gt;= warn:</a:t>
            </a:r>
            <a:br/>
            <a:r>
              <a:t>        status, status_txt = 1, 'WARN'</a:t>
            </a:r>
            <a:br/>
            <a:r>
              <a:t>        </a:t>
            </a:r>
            <a:br/>
            <a:r>
              <a:t>    print(f'{status} "Active_TCP_Connections" '</a:t>
            </a:r>
            <a:br/>
            <a:r>
              <a:t>          f'connections={count};{warn};{crit} '</a:t>
            </a:r>
            <a:br/>
            <a:r>
              <a:t>          f'{status_txt} - {count} aktive TCP Verbindungen')</a:t>
            </a:r>
            <a:br/>
            <a:br/>
            <a:r>
              <a:t>if __name__ == '__main__':</a:t>
            </a:r>
            <a:br/>
            <a:r>
              <a:t>    get_tcp_connections()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💡 Funktionsweise &amp; Checkmk-Protokoll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Standard-Pfad: /usr/lib/check_mk_agent/local/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Protokoll-Format: &lt;STATUS&gt; "&lt;NAME&gt;" &lt;METRIK&gt; &lt;TEXT&gt;</a:t>
            </a:r>
          </a:p>
          <a:p>
            <a:pPr>
              <a:defRPr sz="1000">
                <a:solidFill>
                  <a:srgbClr val="94A3B8"/>
                </a:solidFill>
              </a:defRPr>
            </a:pP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Status-Codes: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• 0 = OK (Normalbetrieb unter 100 Verbindungen)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• 1 = WARN (Erhöhte Last ab 100 Verbindungen)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• 2 = CRIT (Kritische Last / DoS-Verdacht ab 200)</a:t>
            </a:r>
          </a:p>
          <a:p>
            <a:pPr>
              <a:defRPr sz="1000">
                <a:solidFill>
                  <a:srgbClr val="94A3B8"/>
                </a:solidFill>
              </a:defRPr>
            </a:pP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Besonderer Mehrwert: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• Durch das Mitliefern der Metrik 'connections=X;100;200' generiert Checkmk automatisch RRD-Performance-Graphen im Dashboard.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• Beweist die grenzenlose Erweiterbarkeit von Checkmk.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Störungssimulation &amp; Validierung (M10)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4 reale Ausfallszenarien simuliert und Reaktionszeiten protokolliert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#   Szenario             Auslösebefehl                  Erwartung          Tatsächliche Erkennung     Reaktionszeit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1   Apache Web-Ausfall   sudo systemctl stop apache2    HTTP ➔ CRIT        CRIT (Connection refused)  47 Sek. ⚡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2   CPU-Volllast         stress --cpu 4 --timeout 180   CPU ➔ WARN/CRIT    WARN (62s) ➔ CRIT (75s)    62 Sek. ⚡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3   Festplatte voll      dd if=/dev/zero of=/tmp/file   Disk ➔ CRIT        CRIT (Belegung &gt; 95%)      60 Sek. ⚡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4   Host-Totalausfall    VM Power Off (VirtualBox)      Host ➔ DOWN        DOWN (ICMP Ping Fail)      127 Sek. ⚡</a:t>
            </a:r>
          </a:p>
          <a:p>
            <a:br/>
            <a:pPr>
              <a:defRPr sz="1050">
                <a:solidFill>
                  <a:srgbClr val="10B981"/>
                </a:solidFill>
              </a:defRPr>
            </a:pPr>
            <a:r>
              <a:t>FAZIT DER STÖRUNGSTESTS:</a:t>
            </a:r>
            <a:br/>
            <a:r>
              <a:t>• 100 % Erkennungsrate aller Ausfälle in durchschnittlich unter 65 Sekunden.</a:t>
            </a:r>
            <a:br/>
            <a:r>
              <a:t>• Automatische Entwarnung: Nach Behebung sprangen alle Checks ohne manuelles Zutun wieder auf OK (Grün) zurück.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Datenanalyse &amp; Schwellwert-Validierung (Abgabeprodukt 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Untersuchung der Messkurven und Bestätigung der praxistauglichen Grenzwerte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Messgröße 1: CPU-Auslastung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Normalbetrieb: 5 bis 15 % Grundlast.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Störfall: Steiler vertikaler Anstieg auf 98–100 %.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Validierung des Grenzwerts: Schwelle bei 80 % mit 5-Minuten-Zeitfenster filtert kurzzeitige Update-Spitzen zuverlässig heraus.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Ergebnis: Kein Fehlalarm-Risiko, maximaler Schutz.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Messgröße 2: Festplattenbelegung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Normalbetrieb: Flacher linearer Verlauf bei ca. 37 %.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Störfall: Steiler Füllkurvenanstieg auf über 95 %.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Validierung des Grenzwerts: Warnstufe bei 85 % lässt Admins mehrere Tage Reaktionszeit für Log-Bereinigungen.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Ergebnis: Verhindert Datenverlust und Dienststillstand.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Messgröße 3: HTTP-Verfügbarkeit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Normalbetrieb: Stabile Antwortzeiten unter 15 ms (200 OK).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Störfall: Sofortiger binärer Ausschlag auf Connection Refused.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Validierung des Grenzwerts: Schwelle bei 2,0s (Warn) und 5,0s (Crit) schützt Kunden vor quälend langsamen Ladezeiten.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Ergebnis: Essentiell für geschäftskritische Webdienste.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Herausforderungen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Praxisprobleme während des Projekts und wie wir sie gelöst haben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❌ Problem: Paketkonflikte auf Ubuntu 26.04   ➔   ✅ Lösung: Offizieller Docker-Container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Neuere Perl-Versionen blockierten das native .deb-Paket von Checkmk.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Lösung: Wir setzten Checkmk als Docker-Container auf – isoliert, stabil und mit automatischem Neustart bei Systemboot.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❌ Problem: MariaDB Netzwerk-Bindung   ➔   ✅ Lösung: Bind-Address auf 0.0.0.0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MariaDB lauschte standardmäßig nur auf 127.0.0.1 (Localhost).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Lösung: Konfiguration in 50-server.cnf auf 0.0.0.0 angepasst, sodass der Port 3306 über das Host-Only-Netzwerk sauber überwacht werden kann.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❌ Problem: Windows-Agent Firewall-Freigabe   ➔   ✅ Lösung: Port 6556 TCP Rule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Der Windows-Agent lieferte zunächst keine Daten an den Linux-Server.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• Lösung: Port 6556 TCP im Host-Only-Netzwerk in der Windows Defender Firewall explizit freigegeben.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Projektergebnis &amp; Zielerreichung (Abgabeprodukt J)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Alle 11 MUSS-Anforderungen zu 100 % erfüllt • Strukturierter Abnahmetest bestanden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MUSS-ANFORDERUNGEN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11 / 11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100 % erfüllt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KANN-ANFORDERUNGEN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3 / 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60 % umgesetzt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STÖRUNGSPRÜFUNGEN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4 / 4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100 % erkannt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ABNAHMETESTS (T01–T12)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13 / 13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100 % bestanden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🏆 Fazit des Proof of Concept: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Die Checkmk Raw Edition 2.3 hat bewiesen, dass sie die Anforderungen der Müller &amp; Partner GmbH vollständig erfüllt.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Der Zeitrahmen von 3 Projekttagen (geplant: 39,0 h | Ist: 41,5 h) wurde mit einer minimalen Abweichung von +6,4 % eingehalten.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Die Lösung arbeitet ressourcenschonend, benötigt keine teuren Lizenzen und ist sofort einsatzbereit.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KAPITEL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Empfehlung &amp; 3-Phasen-Rollout-Fahrplan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Konkrete Handlungsempfehlung für die Geschäftsführung zur Produktivübernahme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1 (WOCHE 1–2)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Pilotbetrieb auf Kernsystemen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Installation auf dedizierter Hardware/VM.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Anbindung der 10 kritischsten Server (Active Directory, DNS, ERP, File-Server).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Einarbeitung des internen IT-Teams in die WATO-Administration.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PHASE 2 (WOCHE 3–4)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Vollständiger Rollout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Erfassung aller Arbeitsplatz-PCs und NAS-Speicher über Windows/Linux-Agenten.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Einrichtung der E-Mail- und SMS-Benachrichtigungsketten.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Feintuning der Schwellwerte für den Normalbetrieb.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PHASE 3 (MONAT 2)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Erweiterung &amp; Netzinfrastruktur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Anbindung von Netzwerkswitches und Routern via SNMP.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Zentrales Log-Monitoring und Auswertung historischer Daten.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Kapazitätsplanung für zukünftiges Hardware-Wachstum.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1097280"/>
            <a:ext cx="1554480" cy="10972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Vielen Dank für Ihre Aufmerksamkeit!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Wir stehen nun für Ihre Fragen und die Live-Demonstration zur Verfügung.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206240"/>
            <a:ext cx="70408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🖥️ LIVE-DEMONSTRATION BEREIT: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Checkmk Dashboard: http://localhost:8080/cmk/  |  Login: cmkadmin / cmkadmin</a:t>
            </a:r>
            <a:br/>
            <a:r>
              <a:t>Live-Hosts: mon-srv01 (.101)  •  web-srv01 (.102)  •  win-client01 (.1)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