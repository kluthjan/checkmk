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Jan (0-2 Min):</a:t>
            </a:r>
          </a:p>
          <a:p>
            <a:r>
              <a:t>Herzlich willkommen zur Präsentation unseres Proof of Concepts für das neue IT-Monitoring der Müller &amp; Partner GmbH. Wir sind das Grone Umschulungsteam: Jan, Marion, Mathias, Marco und Robert. Wir stellen Ihnen heute vor, wie wir in drei Tagen eine moderne, zentrale Überwachungslösung evaluiert und prototypisch umgesetzt haben.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Jan (2-3 Min):</a:t>
            </a:r>
          </a:p>
          <a:p>
            <a:r>
              <a:t>Die Müller &amp; Partner GmbH hat eine wachsende IT-Infrastruktur. Bisher wurde alles manuell überwacht. Das Problem: Störungen werden zu spät erkannt, Ausfälle bleiben unbemerkt. Unser Ziel war es daher, in diesem PoC ein zentrales Open-Source-Monitoringsystem zu evaluieren, zu planen und prototypisch umzusetzen.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Marion (3-6 Min):</a:t>
            </a:r>
          </a:p>
          <a:p>
            <a:r>
              <a:t>Um das beste System zu finden, haben wir eine Nutzwertanalyse durchgeführt. Evaluiert wurden Checkmk, Zabbix und Nagios anhand von 7 Kriterien, darunter Kosten, Bedienbarkeit und Alarmierung.</a:t>
            </a:r>
          </a:p>
          <a:p/>
          <a:p>
            <a:r>
              <a:t>Das Ergebnis: Checkmk Raw Edition hat mit 4,40 Punkten gewonnen, dicht gefolgt von Zabbix mit 4,20. Nagios landete bei 3,30.</a:t>
            </a:r>
          </a:p>
          <a:p/>
          <a:p>
            <a:r>
              <a:t>Ausschlaggebend für Checkmk war die extrem gute Bedienbarkeit - das am höchsten gewichtete Kriterium - sowie die sofort einsatzbereiten Dashboards und die automatische Erkennung von Diensten (Auto-Discovery).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Mathias (6-9 Min):</a:t>
            </a:r>
          </a:p>
          <a:p>
            <a:r>
              <a:t>Für die Umsetzung haben wir drei Systeme aufgesetzt:</a:t>
            </a:r>
          </a:p>
          <a:p>
            <a:r>
              <a:t>1. Einen Ubuntu-Server als Monitoring-Zentrale mit Checkmk im Docker-Container.</a:t>
            </a:r>
          </a:p>
          <a:p>
            <a:r>
              <a:t>2. Einen Linux-Webserver (web-srv01) mit Apache, MySQL und SSH.</a:t>
            </a:r>
          </a:p>
          <a:p>
            <a:r>
              <a:t>3. Den Windows-Host-PC als Client.</a:t>
            </a:r>
          </a:p>
          <a:p/>
          <a:p>
            <a:r>
              <a:t>Alle Systeme kommunizieren über ein isoliertes VirtualBox Host-Only Netzwerk. Über Port-Forwarding machen wir das Dashboard lokal erreichbar.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Marco (9-12 Min):</a:t>
            </a:r>
          </a:p>
          <a:p>
            <a:r>
              <a:t>Die Einrichtung ging dank Checkmk sehr schnell. Über die Auto-Discovery-Funktion wurden fast alle Dienste sofort erkannt.</a:t>
            </a:r>
          </a:p>
          <a:p/>
          <a:p>
            <a:r>
              <a:t>Gemäß den Anforderungen überwachen wir Apache, MySQL und SSH inklusive Schwellwerten für Reaktionszeiten.</a:t>
            </a:r>
          </a:p>
          <a:p/>
          <a:p>
            <a:r>
              <a:t>Zusätzlich haben wir einen 'Custom Local Check' in Python geschrieben. Dieser überwacht die Anzahl der aktiven TCP-Verbindungen auf dem Webserver und alarmiert uns bei Überlastung (Warnung bei 100, Kritisch bei 200 Verbindungen).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Robert (12-15 Min):</a:t>
            </a:r>
          </a:p>
          <a:p>
            <a:r>
              <a:t>Um sicherzugehen, dass unser Monitoring funktioniert, haben wir reale Störungen simuliert.</a:t>
            </a:r>
          </a:p>
          <a:p>
            <a:r>
              <a:t>Wir haben den Apache-Dienst gestoppt, die CPU künstlich ausgelastet, die Festplatte volllaufen lassen und schließlich einen kompletten Host-Ausfall simuliert.</a:t>
            </a:r>
          </a:p>
          <a:p/>
          <a:p>
            <a:r>
              <a:t>In allen vier Fällen hat Checkmk sofort und zuverlässig reagiert und den Status auf CRIT gesetzt.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Robert (12-15 Min Fortsetzung):</a:t>
            </a:r>
          </a:p>
          <a:p>
            <a:r>
              <a:t>Fazit: Unser PoC war ein voller Erfolg. Das zentrale Monitoring mit Checkmk steht und überwacht unsere Systeme in Echtzeit. Störungen werden sofort erkannt.</a:t>
            </a:r>
          </a:p>
          <a:p/>
          <a:p>
            <a:r>
              <a:t>Als nächste Schritte empfehlen wir die Einrichtung einer E-Mail-Alarmierung und die Aktivierung der TLS-Verschlüsselung für die sichere Datenübertragung.</a:t>
            </a:r>
          </a:p>
          <a:p/>
          <a:p>
            <a:r>
              <a:t>Vielen Dank für Ihre Aufmerksamkeit! Wir beantworten nun gerne Ihre Fragen.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6400" b="1">
                <a:solidFill>
                  <a:srgbClr val="F1F5F9"/>
                </a:solidFill>
              </a:defRPr>
            </a:pPr>
            <a:r>
              <a:t>IT-Monitoring mit Checkmk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926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3200">
                <a:solidFill>
                  <a:srgbClr val="10B981"/>
                </a:solidFill>
              </a:defRPr>
            </a:pPr>
            <a:r>
              <a:t>Proof of Concept für Müller &amp; Partner GmbH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5029200"/>
            <a:ext cx="9601200" cy="1097280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5120640"/>
            <a:ext cx="92354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200">
                <a:solidFill>
                  <a:srgbClr val="F1F5F9"/>
                </a:solidFill>
              </a:defRPr>
            </a:pPr>
            <a:r>
              <a:t>Projektteam:</a:t>
            </a:r>
            <a:br/>
            <a:r>
              <a:t>Jan Kluth | Marion Ballcke | Mathias Vorrau | Marco Schmidt | Robert Ortmann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4400" b="1">
                <a:solidFill>
                  <a:srgbClr val="F1F5F9"/>
                </a:solidFill>
              </a:defRPr>
            </a:pPr>
            <a:r>
              <a:t>Ausgangslage &amp; Zielsetzung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39496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3200" b="1">
                <a:solidFill>
                  <a:srgbClr val="10B981"/>
                </a:solidFill>
              </a:defRPr>
            </a:pPr>
            <a:r>
              <a:t>Bisherige Situation</a:t>
            </a:r>
          </a:p>
          <a:p>
            <a:pPr>
              <a:spcBef>
                <a:spcPts val="1400"/>
              </a:spcBef>
              <a:defRPr sz="2400">
                <a:solidFill>
                  <a:srgbClr val="F1F5F9"/>
                </a:solidFill>
              </a:defRPr>
            </a:pPr>
            <a:r>
              <a:t>• Wachsende IT-Infrastruktur</a:t>
            </a:r>
          </a:p>
          <a:p>
            <a:pPr>
              <a:spcBef>
                <a:spcPts val="1400"/>
              </a:spcBef>
              <a:defRPr sz="2400">
                <a:solidFill>
                  <a:srgbClr val="F1F5F9"/>
                </a:solidFill>
              </a:defRPr>
            </a:pPr>
            <a:r>
              <a:t>• Bisher manuelle Systemüberwachung</a:t>
            </a:r>
          </a:p>
          <a:p>
            <a:pPr>
              <a:spcBef>
                <a:spcPts val="1400"/>
              </a:spcBef>
              <a:defRPr sz="2400">
                <a:solidFill>
                  <a:srgbClr val="F1F5F9"/>
                </a:solidFill>
              </a:defRPr>
            </a:pPr>
            <a:r>
              <a:t>• Verzögerte Störungsmeldungen</a:t>
            </a:r>
          </a:p>
          <a:p>
            <a:pPr>
              <a:spcBef>
                <a:spcPts val="1400"/>
              </a:spcBef>
              <a:defRPr sz="2400">
                <a:solidFill>
                  <a:srgbClr val="F1F5F9"/>
                </a:solidFill>
              </a:defRPr>
            </a:pPr>
            <a:r>
              <a:t>• Gefahr von unbemerkten Ausfällen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371600"/>
            <a:ext cx="539496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64592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3200" b="1">
                <a:solidFill>
                  <a:srgbClr val="10B981"/>
                </a:solidFill>
              </a:defRPr>
            </a:pPr>
            <a:r>
              <a:t>Projektziele</a:t>
            </a:r>
          </a:p>
          <a:p>
            <a:pPr>
              <a:spcBef>
                <a:spcPts val="1400"/>
              </a:spcBef>
              <a:defRPr sz="2400">
                <a:solidFill>
                  <a:srgbClr val="F1F5F9"/>
                </a:solidFill>
              </a:defRPr>
            </a:pPr>
            <a:r>
              <a:t>• Evaluation &amp; Systemauswahl</a:t>
            </a:r>
          </a:p>
          <a:p>
            <a:pPr>
              <a:spcBef>
                <a:spcPts val="1400"/>
              </a:spcBef>
              <a:defRPr sz="2400">
                <a:solidFill>
                  <a:srgbClr val="F1F5F9"/>
                </a:solidFill>
              </a:defRPr>
            </a:pPr>
            <a:r>
              <a:t>• Planung der Architektur</a:t>
            </a:r>
          </a:p>
          <a:p>
            <a:pPr>
              <a:spcBef>
                <a:spcPts val="1400"/>
              </a:spcBef>
              <a:defRPr sz="2400">
                <a:solidFill>
                  <a:srgbClr val="F1F5F9"/>
                </a:solidFill>
              </a:defRPr>
            </a:pPr>
            <a:r>
              <a:t>• Prototypische Implementierung</a:t>
            </a:r>
          </a:p>
          <a:p>
            <a:pPr>
              <a:spcBef>
                <a:spcPts val="1400"/>
              </a:spcBef>
              <a:defRPr sz="2400">
                <a:solidFill>
                  <a:srgbClr val="F1F5F9"/>
                </a:solidFill>
              </a:defRPr>
            </a:pPr>
            <a:r>
              <a:t>• Zentrales Open-Source-Monitoring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4400" b="1">
                <a:solidFill>
                  <a:srgbClr val="F1F5F9"/>
                </a:solidFill>
              </a:defRPr>
            </a:pPr>
            <a:r>
              <a:t>Nutzwertanalyse &amp; Systemauswahl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800">
                <a:solidFill>
                  <a:srgbClr val="F1F5F9"/>
                </a:solidFill>
              </a:defRPr>
            </a:pPr>
            <a:r>
              <a:t>Wir haben drei marktführende Open-Source Lösungen evaluiert: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286000"/>
            <a:ext cx="3566160" cy="2743200"/>
          </a:xfrm>
          <a:prstGeom prst="roundRect">
            <a:avLst/>
          </a:prstGeom>
          <a:solidFill>
            <a:srgbClr val="1E293B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3600" b="1">
                <a:solidFill>
                  <a:srgbClr val="10B981"/>
                </a:solidFill>
              </a:defRPr>
            </a:pPr>
            <a:r>
              <a:t>Checkmk Raw</a:t>
            </a:r>
          </a:p>
          <a:p>
            <a:pPr algn="ctr">
              <a:spcBef>
                <a:spcPts val="2000"/>
              </a:spcBef>
              <a:defRPr sz="2800">
                <a:solidFill>
                  <a:srgbClr val="F1F5F9"/>
                </a:solidFill>
              </a:defRPr>
            </a:pPr>
            <a:r>
              <a:t>4,40 / 5,00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2286000"/>
            <a:ext cx="3566160" cy="2743200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274320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3600" b="1">
                <a:solidFill>
                  <a:srgbClr val="94A3B8"/>
                </a:solidFill>
              </a:defRPr>
            </a:pPr>
            <a:r>
              <a:t>Zabbix</a:t>
            </a:r>
          </a:p>
          <a:p>
            <a:pPr algn="ctr">
              <a:spcBef>
                <a:spcPts val="2000"/>
              </a:spcBef>
              <a:defRPr sz="2800">
                <a:solidFill>
                  <a:srgbClr val="F1F5F9"/>
                </a:solidFill>
              </a:defRPr>
            </a:pPr>
            <a:r>
              <a:t>4,20 / 5,00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2286000"/>
            <a:ext cx="3566160" cy="2743200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274320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3600" b="1">
                <a:solidFill>
                  <a:srgbClr val="94A3B8"/>
                </a:solidFill>
              </a:defRPr>
            </a:pPr>
            <a:r>
              <a:t>Nagios Core</a:t>
            </a:r>
          </a:p>
          <a:p>
            <a:pPr algn="ctr">
              <a:spcBef>
                <a:spcPts val="2000"/>
              </a:spcBef>
              <a:defRPr sz="2800">
                <a:solidFill>
                  <a:srgbClr val="F1F5F9"/>
                </a:solidFill>
              </a:defRPr>
            </a:pPr>
            <a:r>
              <a:t>3,30 / 5,00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03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400" b="1">
                <a:solidFill>
                  <a:srgbClr val="10B981"/>
                </a:solidFill>
              </a:defRPr>
            </a:pPr>
            <a:r>
              <a:t>Entscheidung: Checkmk aufgrund hervorragender Bedienbarkeit (höchste Gewichtung: 20%), Out-of-the-Box Dashboards und zeitsparender Auto-Discovery.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4400" b="1">
                <a:solidFill>
                  <a:srgbClr val="F1F5F9"/>
                </a:solidFill>
              </a:defRPr>
            </a:pPr>
            <a:r>
              <a:t>Technische Architektur der Testumgebung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286000"/>
            <a:ext cx="3017520" cy="228600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2800" b="1">
                <a:solidFill>
                  <a:srgbClr val="F1F5F9"/>
                </a:solidFill>
              </a:defRPr>
            </a:pPr>
            <a:r>
              <a:t>Ubuntu VM</a:t>
            </a:r>
          </a:p>
          <a:p>
            <a:pPr algn="ctr">
              <a:spcBef>
                <a:spcPts val="1000"/>
              </a:spcBef>
              <a:defRPr sz="2000">
                <a:solidFill>
                  <a:srgbClr val="94A3B8"/>
                </a:solidFill>
              </a:defRPr>
            </a:pPr>
            <a:r>
              <a:t>Monitoring Server</a:t>
            </a:r>
            <a:br/>
            <a:r>
              <a:t>(Checkmk Docker, Port 8080)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2286000"/>
            <a:ext cx="3017520" cy="228600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46888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2800" b="1">
                <a:solidFill>
                  <a:srgbClr val="F1F5F9"/>
                </a:solidFill>
              </a:defRPr>
            </a:pPr>
            <a:r>
              <a:t>Web-Srv01 VM</a:t>
            </a:r>
          </a:p>
          <a:p>
            <a:pPr algn="ctr">
              <a:spcBef>
                <a:spcPts val="1000"/>
              </a:spcBef>
              <a:defRPr sz="2000">
                <a:solidFill>
                  <a:srgbClr val="94A3B8"/>
                </a:solidFill>
              </a:defRPr>
            </a:pPr>
            <a:r>
              <a:t>Linux Webserver</a:t>
            </a:r>
            <a:br/>
            <a:r>
              <a:t>(Apache, MySQL, SSH)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0" y="2286000"/>
            <a:ext cx="3017520" cy="228600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0" y="246888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2800" b="1">
                <a:solidFill>
                  <a:srgbClr val="F1F5F9"/>
                </a:solidFill>
              </a:defRPr>
            </a:pPr>
            <a:r>
              <a:t>Windows Host</a:t>
            </a:r>
          </a:p>
          <a:p>
            <a:pPr algn="ctr">
              <a:spcBef>
                <a:spcPts val="1000"/>
              </a:spcBef>
              <a:defRPr sz="2000">
                <a:solidFill>
                  <a:srgbClr val="94A3B8"/>
                </a:solidFill>
              </a:defRPr>
            </a:pPr>
            <a:r>
              <a:t>Windows Client</a:t>
            </a:r>
            <a:br/>
            <a:r>
              <a:t>(Checkmk Agent)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474720" y="3200400"/>
            <a:ext cx="1097280" cy="457200"/>
          </a:xfrm>
          <a:prstGeom prst="rightArrow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7589520" y="3200400"/>
            <a:ext cx="1097280" cy="457200"/>
          </a:xfrm>
          <a:prstGeom prst="rightArrow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5029200"/>
            <a:ext cx="10972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1000"/>
              </a:spcAft>
              <a:defRPr sz="2400">
                <a:solidFill>
                  <a:srgbClr val="F1F5F9"/>
                </a:solidFill>
              </a:defRPr>
            </a:pPr>
            <a:r>
              <a:t>Netzwerk: VirtualBox Host-Only Adapter (192.168.56.0/24)</a:t>
            </a:r>
          </a:p>
          <a:p>
            <a:pPr>
              <a:defRPr sz="2400">
                <a:solidFill>
                  <a:srgbClr val="F1F5F9"/>
                </a:solidFill>
              </a:defRPr>
            </a:pPr>
            <a:r>
              <a:t>Kommunikation: Alle Systeme sicher vernetzt, lokales Port-Forwarding eingerichtet.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4400" b="1">
                <a:solidFill>
                  <a:srgbClr val="F1F5F9"/>
                </a:solidFill>
              </a:defRPr>
            </a:pPr>
            <a:r>
              <a:t>Monitoring-Konfiguration &amp; Custom Checks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77295" cy="5029200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3200" b="1">
                <a:solidFill>
                  <a:srgbClr val="10B981"/>
                </a:solidFill>
              </a:defRPr>
            </a:pPr>
            <a:r>
              <a:t>Automatisierung &amp; Dienste</a:t>
            </a:r>
          </a:p>
          <a:p>
            <a:pPr>
              <a:spcBef>
                <a:spcPts val="1000"/>
              </a:spcBef>
              <a:defRPr sz="2400">
                <a:solidFill>
                  <a:srgbClr val="F1F5F9"/>
                </a:solidFill>
              </a:defRPr>
            </a:pPr>
            <a:r>
              <a:t>• Hosts über REST-API angelegt</a:t>
            </a:r>
          </a:p>
          <a:p>
            <a:pPr>
              <a:spcBef>
                <a:spcPts val="1000"/>
              </a:spcBef>
              <a:defRPr sz="2400">
                <a:solidFill>
                  <a:srgbClr val="F1F5F9"/>
                </a:solidFill>
              </a:defRPr>
            </a:pPr>
            <a:r>
              <a:t>• Auto-Discovery erkannte sofort 19 Services auf Ubuntu und 22 auf web-srv01</a:t>
            </a:r>
          </a:p>
          <a:p>
            <a:pPr>
              <a:spcBef>
                <a:spcPts val="1000"/>
              </a:spcBef>
              <a:defRPr sz="2400">
                <a:solidFill>
                  <a:srgbClr val="F1F5F9"/>
                </a:solidFill>
              </a:defRPr>
            </a:pPr>
            <a:r>
              <a:t>• Überwachte Dienste (MUSS): HTTP, MySQL, SSH</a:t>
            </a:r>
          </a:p>
          <a:p>
            <a:pPr>
              <a:spcBef>
                <a:spcPts val="3000"/>
              </a:spcBef>
              <a:defRPr sz="3200" b="1">
                <a:solidFill>
                  <a:srgbClr val="10B981"/>
                </a:solidFill>
              </a:defRPr>
            </a:pPr>
            <a:r>
              <a:t>Custom Local Check (Python)</a:t>
            </a:r>
          </a:p>
          <a:p>
            <a:pPr>
              <a:spcBef>
                <a:spcPts val="1000"/>
              </a:spcBef>
              <a:defRPr sz="2400">
                <a:solidFill>
                  <a:srgbClr val="F1F5F9"/>
                </a:solidFill>
              </a:defRPr>
            </a:pPr>
            <a:r>
              <a:t>• Wir haben ein eigenes Python-Skript entwickelt, das aktive TCP-Verbindungen überwacht.</a:t>
            </a:r>
          </a:p>
          <a:p>
            <a:pPr>
              <a:defRPr sz="2400">
                <a:solidFill>
                  <a:srgbClr val="F1F5F9"/>
                </a:solidFill>
              </a:defRPr>
            </a:pPr>
            <a:r>
              <a:t>• Schwellwerte: WARN bei 100, CRIT bei 200 Verbindungen.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4400" b="1">
                <a:solidFill>
                  <a:srgbClr val="F1F5F9"/>
                </a:solidFill>
              </a:defRPr>
            </a:pPr>
            <a:r>
              <a:t>Störungssimulation &amp; Tests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600">
                <a:solidFill>
                  <a:srgbClr val="F1F5F9"/>
                </a:solidFill>
              </a:defRPr>
            </a:pPr>
            <a:r>
              <a:t>Vier praxisnahe Szenarien erfolgreich getestet: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11277295" cy="1005840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2057400"/>
            <a:ext cx="548640" cy="5486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1920240"/>
            <a:ext cx="3200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1F5F9"/>
                </a:solidFill>
              </a:defRPr>
            </a:pPr>
          </a:p>
          <a:p>
            <a:r>
              <a:t>Apache-Ausfall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2024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94A3B8"/>
                </a:solidFill>
              </a:defRPr>
            </a:pPr>
          </a:p>
          <a:p>
            <a:r>
              <a:t>Service gestoppt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920240"/>
            <a:ext cx="3200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0B981"/>
                </a:solidFill>
              </a:defRPr>
            </a:pPr>
          </a:p>
          <a:p>
            <a:r>
              <a:t>HTTP_Apache → CRIT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017520"/>
            <a:ext cx="11277295" cy="1005840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3246120"/>
            <a:ext cx="548640" cy="5486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3108960"/>
            <a:ext cx="3200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1F5F9"/>
                </a:solidFill>
              </a:defRPr>
            </a:pPr>
          </a:p>
          <a:p>
            <a:r>
              <a:t>CPU-Volllast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10896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94A3B8"/>
                </a:solidFill>
              </a:defRPr>
            </a:pPr>
          </a:p>
          <a:p>
            <a:r>
              <a:t>Stress-Test (stress --cpu)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3108960"/>
            <a:ext cx="3200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0B981"/>
                </a:solidFill>
              </a:defRPr>
            </a:pPr>
          </a:p>
          <a:p>
            <a:r>
              <a:t>CPU utilization → WARN/CRIT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206240"/>
            <a:ext cx="11277295" cy="1005840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1520" y="4434840"/>
            <a:ext cx="548640" cy="5486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63040" y="4297679"/>
            <a:ext cx="3200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1F5F9"/>
                </a:solidFill>
              </a:defRPr>
            </a:pPr>
          </a:p>
          <a:p>
            <a:r>
              <a:t>Festplatte voll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4297679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94A3B8"/>
                </a:solidFill>
              </a:defRPr>
            </a:pPr>
          </a:p>
          <a:p>
            <a:r>
              <a:t>dd command für 20GB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4297679"/>
            <a:ext cx="3200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0B981"/>
                </a:solidFill>
              </a:defRPr>
            </a:pPr>
          </a:p>
          <a:p>
            <a:r>
              <a:t>Filesystem / → CRIT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394959"/>
            <a:ext cx="11277295" cy="1005840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623559"/>
            <a:ext cx="548640" cy="5486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63040" y="5486399"/>
            <a:ext cx="3200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1F5F9"/>
                </a:solidFill>
              </a:defRPr>
            </a:pPr>
          </a:p>
          <a:p>
            <a:r>
              <a:t>Host-Ausfall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5486399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94A3B8"/>
                </a:solidFill>
              </a:defRPr>
            </a:pPr>
          </a:p>
          <a:p>
            <a:r>
              <a:t>VM ausgeschaltet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5486399"/>
            <a:ext cx="3200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0B981"/>
                </a:solidFill>
              </a:defRPr>
            </a:pPr>
          </a:p>
          <a:p>
            <a:r>
              <a:t>Host DOWN (Ping Fail)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4400" b="1">
                <a:solidFill>
                  <a:srgbClr val="F1F5F9"/>
                </a:solidFill>
              </a:defRPr>
            </a:pPr>
            <a:r>
              <a:t>Fazit &amp; Ausblick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77295" cy="5029200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3200" b="1">
                <a:solidFill>
                  <a:srgbClr val="10B981"/>
                </a:solidFill>
              </a:defRPr>
            </a:pPr>
            <a:r>
              <a:t>Ergebnisse des Proof of Concept</a:t>
            </a:r>
          </a:p>
          <a:p>
            <a:pPr>
              <a:spcBef>
                <a:spcPts val="1400"/>
              </a:spcBef>
              <a:defRPr sz="2600">
                <a:solidFill>
                  <a:srgbClr val="F1F5F9"/>
                </a:solidFill>
              </a:defRPr>
            </a:pPr>
            <a:r>
              <a:t>• Ziel zu 100% erreicht: Zentrales Monitoring in 3 Tagen aufgebaut.</a:t>
            </a:r>
          </a:p>
          <a:p>
            <a:pPr>
              <a:spcBef>
                <a:spcPts val="1400"/>
              </a:spcBef>
              <a:defRPr sz="2600">
                <a:solidFill>
                  <a:srgbClr val="F1F5F9"/>
                </a:solidFill>
              </a:defRPr>
            </a:pPr>
            <a:r>
              <a:t>• Checkmk Raw Edition erwies sich als die beste Wahl.</a:t>
            </a:r>
          </a:p>
          <a:p>
            <a:pPr>
              <a:spcBef>
                <a:spcPts val="1400"/>
              </a:spcBef>
              <a:defRPr sz="2600">
                <a:solidFill>
                  <a:srgbClr val="F1F5F9"/>
                </a:solidFill>
              </a:defRPr>
            </a:pPr>
            <a:r>
              <a:t>• Drei Hosts werden erfolgreich in Echtzeit überwacht.</a:t>
            </a:r>
          </a:p>
          <a:p>
            <a:pPr>
              <a:spcBef>
                <a:spcPts val="1400"/>
              </a:spcBef>
              <a:defRPr sz="2600">
                <a:solidFill>
                  <a:srgbClr val="F1F5F9"/>
                </a:solidFill>
              </a:defRPr>
            </a:pPr>
            <a:r>
              <a:t>• Störungen werden sofort erkannt, Datenverlust wird verhindert.</a:t>
            </a:r>
          </a:p>
          <a:p>
            <a:pPr>
              <a:spcBef>
                <a:spcPts val="3000"/>
              </a:spcBef>
              <a:defRPr sz="3200" b="1">
                <a:solidFill>
                  <a:srgbClr val="10B981"/>
                </a:solidFill>
              </a:defRPr>
            </a:pPr>
            <a:r>
              <a:t>Nächste Schritte</a:t>
            </a:r>
          </a:p>
          <a:p>
            <a:pPr>
              <a:spcBef>
                <a:spcPts val="1400"/>
              </a:spcBef>
              <a:defRPr sz="2600">
                <a:solidFill>
                  <a:srgbClr val="F1F5F9"/>
                </a:solidFill>
              </a:defRPr>
            </a:pPr>
            <a:r>
              <a:t>• Einrichtung von E-Mail-Alarmierung.</a:t>
            </a:r>
          </a:p>
          <a:p>
            <a:pPr>
              <a:defRPr sz="2600">
                <a:solidFill>
                  <a:srgbClr val="F1F5F9"/>
                </a:solidFill>
              </a:defRPr>
            </a:pPr>
            <a:r>
              <a:t>• Verschlüsselung der Agentenkommunikation (TLS).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