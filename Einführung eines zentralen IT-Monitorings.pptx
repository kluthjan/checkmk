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</ns0:sldIdLst>
  <ns0:sldSz cx="12192000" cy="6858000" type="screen4x3"/>
  <ns0:notesSz cx="6858000" cy="9144000"/>
  <ns0:embeddedFontLst>
    <ns0:embeddedFont>
      <ns0:font typeface="Inter"/>
      <ns0:italic ns1:id="rIdFont25"/>
      <ns0:bold ns1:id="rIdFont26"/>
      <ns0:regular ns1:id="rIdFont27"/>
    </ns0:embeddedFont>
    <ns0:embeddedFont>
      <ns0:font typeface="JetBrains Mono"/>
      <ns0:regular ns1:id="rIdFont2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Font25" Type="http://schemas.openxmlformats.org/officeDocument/2006/relationships/font" Target="fonts/ce733042-fd00-4cde-9aed-777dff65c33a.fntdata" /><ns0:Relationship Id="rIdFont26" Type="http://schemas.openxmlformats.org/officeDocument/2006/relationships/font" Target="fonts/0b7fdf8e-ceb8-461e-8be6-12deefda844f.fntdata" /><ns0:Relationship Id="rIdFont27" Type="http://schemas.openxmlformats.org/officeDocument/2006/relationships/font" Target="fonts/6e67a9d8-c468-414b-9d2d-ee4eea2e349a.fntdata" /><ns0:Relationship Id="rIdFont28" Type="http://schemas.openxmlformats.org/officeDocument/2006/relationships/font" Target="fonts/d320558b-c2af-47bc-972c-6376ed3eb70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900" y="1905000"/>
            <a:ext cx="4000500" cy="304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425" y="1914525"/>
            <a:ext cx="3981450" cy="3028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085082"/>
            <a:ext cx="8143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ABSCHLUSSPROJEKT |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23207"/>
            <a:ext cx="6940867" cy="963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b="1" sz="3300" i="0" u="none">
                <a:solidFill>
                  <a:srgbClr val="FFFFFF"/>
                </a:solidFill>
                <a:latin typeface="Inter"/>
              </a:rPr>
              <a:t>Einführung eines zentralen IT-Monitorings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439417"/>
            <a:ext cx="81438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Inter"/>
              </a:rPr>
              <a:t>Proof of Concept – Prototypische Implementierung &amp;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" y="3972817"/>
            <a:ext cx="1428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Auftraggeber: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875" y="3972817"/>
            <a:ext cx="21550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Müller &amp; Partner GmbH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75" y="4277617"/>
            <a:ext cx="1428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Auftragnehmer: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47875" y="4277617"/>
            <a:ext cx="2393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Grone Umschulungsteam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4582417"/>
            <a:ext cx="1428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Projektdauer: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7875" y="4582417"/>
            <a:ext cx="2428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Inter"/>
              </a:rPr>
              <a:t>3 Projekttage (39 Stunden)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881312"/>
            <a:ext cx="35814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05300" y="2881312"/>
            <a:ext cx="35814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81312"/>
            <a:ext cx="35814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1525" y="311943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43425" y="311943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15325" y="311943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419100"/>
            <a:ext cx="11658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STRUKTUR &amp; ABLAUF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57225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Inter"/>
              </a:rPr>
              <a:t>Agenda der Präsentation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" y="3119437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475" y="3152775"/>
            <a:ext cx="241280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Analyse &amp; Grundlagen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538537"/>
            <a:ext cx="3881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01.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Ausgangssituation &amp; Probleme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3814762"/>
            <a:ext cx="3881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02.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Anforderungskatalog (MUSS/KANN)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4090987"/>
            <a:ext cx="3881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03.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Untersuchte Monitoring-Produkte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4367212"/>
            <a:ext cx="3881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04.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Nutzwertanalyse &amp; Entscheidung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0550" y="3119437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5375" y="3152775"/>
            <a:ext cx="23752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Umsetzung &amp; Technik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3425" y="3538537"/>
            <a:ext cx="3881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05.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Testumgebung &amp; Netzwerkplan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3425" y="3814762"/>
            <a:ext cx="3881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06.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Umgesetzte Überwachung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3425" y="4090987"/>
            <a:ext cx="3881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07.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Eigenentwicklung (Python Check)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3425" y="4367212"/>
            <a:ext cx="3881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08.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Störungssimulation &amp; Alarme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2450" y="3119437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Int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7275" y="3152775"/>
            <a:ext cx="211276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Ergebnisse &amp;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5325" y="3538537"/>
            <a:ext cx="38766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09.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Messdatenanalyse &amp; Grenzwerte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5325" y="3814762"/>
            <a:ext cx="38766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10.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Probleme &amp; Lessons Learned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5325" y="4090987"/>
            <a:ext cx="38766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11.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Projektergebnis &amp; Empfehlung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5325" y="4367212"/>
            <a:ext cx="38766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12.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Live-Demonstration im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024062"/>
            <a:ext cx="4918323" cy="1123950"/>
          </a:xfrm>
          <a:prstGeom prst="roundRect">
            <a:avLst>
              <a:gd name="adj" fmla="val 10169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3338512"/>
            <a:ext cx="4918323" cy="1123950"/>
          </a:xfrm>
          <a:prstGeom prst="roundRect">
            <a:avLst>
              <a:gd name="adj" fmla="val 10169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4652962"/>
            <a:ext cx="4918323" cy="990600"/>
          </a:xfrm>
          <a:prstGeom prst="roundRect">
            <a:avLst>
              <a:gd name="adj" fmla="val 1153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3900" y="4843462"/>
            <a:ext cx="28575" cy="381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56523" y="3543300"/>
            <a:ext cx="2352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09495" y="3543300"/>
            <a:ext cx="35491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56523" y="3962400"/>
            <a:ext cx="2352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09495" y="3962400"/>
            <a:ext cx="35491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56523" y="4381500"/>
            <a:ext cx="2352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09495" y="4381500"/>
            <a:ext cx="35491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56523" y="4800600"/>
            <a:ext cx="2352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9495" y="4800600"/>
            <a:ext cx="35491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262187"/>
            <a:ext cx="2095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3576637"/>
            <a:ext cx="209550" cy="20955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756523" y="2747962"/>
            <a:ext cx="5902076" cy="24765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756523" y="2747962"/>
          <a:ext cx="5902076" cy="24765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52972"/>
                <a:gridCol w="3549104"/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Szenario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Auswirkung auf den Betrieb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Server nicht erreichbar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Kompletter Arbeitsstillstand der Abteilungen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Netzwerkdienst ausgefallen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Verbindungsabbrüche zu Datenbanken &amp; Web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Festplatte voll gelaufen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Hohes Datenverlust- und Absturzrisiko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Hohe CPU-Auslastung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Extreme Verlangsamung kritischer Dienste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Speichermangel (RAM)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System-Instabilität und Anwendungsabbrüche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33400" y="419100"/>
            <a:ext cx="11658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IST-ZUSTAND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57225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Inter"/>
              </a:rPr>
              <a:t>Ausgangssituation &amp; Problemlage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6523" y="2443162"/>
            <a:ext cx="643547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Typische Vorfälle &amp; Risiken im Betrieb: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2547937"/>
            <a:ext cx="453732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881337"/>
                </a:solidFill>
                <a:latin typeface="Inter"/>
              </a:rPr>
              <a:t>Mehrere Server und zahlreiche Arbeitsplatz-Clients ohne zentrale Sichtbarkeit.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3862387"/>
            <a:ext cx="453732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881337"/>
                </a:solidFill>
                <a:latin typeface="Inter"/>
              </a:rPr>
              <a:t>Keine automatische Erkennung. Störungen werden erst nach Anwender-Meldung bemerkt.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4843462"/>
            <a:ext cx="4518273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1" u="none">
                <a:solidFill>
                  <a:srgbClr val="FFFFFF"/>
                </a:solidFill>
                <a:latin typeface="Inter"/>
              </a:rPr>
              <a:t> „Diese reaktive Situation ist für den laufenden Betrieb nicht mehr ausreichend."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410430" y="5300662"/>
            <a:ext cx="567165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75" i="0" u="none">
                <a:solidFill>
                  <a:srgbClr val="94A3B8"/>
                </a:solidFill>
                <a:latin typeface="Inter"/>
              </a:rPr>
              <a:t>– Geschäftsführung, Müller &amp; Partner GmbH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375" y="2266950"/>
            <a:ext cx="30253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F1239"/>
                </a:solidFill>
                <a:latin typeface="Inter"/>
              </a:rPr>
              <a:t>Wachsende IT-Infrastruktur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375" y="3581400"/>
            <a:ext cx="258782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F1239"/>
                </a:solidFill>
                <a:latin typeface="Inter"/>
              </a:rPr>
              <a:t>Manuelle Überwachung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971675"/>
            <a:ext cx="6137374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5257800"/>
            <a:ext cx="6137374" cy="438150"/>
          </a:xfrm>
          <a:prstGeom prst="roundRect">
            <a:avLst>
              <a:gd name="adj" fmla="val 2608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37474" y="1971675"/>
            <a:ext cx="4721125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37474" y="2676525"/>
            <a:ext cx="4721125" cy="20764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18199" y="2133600"/>
            <a:ext cx="1352550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3400" y="2676525"/>
            <a:ext cx="3021062" cy="409575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49712" y="2676525"/>
            <a:ext cx="3021062" cy="409575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400" y="3181350"/>
            <a:ext cx="3021062" cy="409575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49712" y="3181350"/>
            <a:ext cx="3021062" cy="409575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3400" y="3686175"/>
            <a:ext cx="3021062" cy="409575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49712" y="3686175"/>
            <a:ext cx="3021062" cy="409575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3400" y="4191000"/>
            <a:ext cx="3021062" cy="409575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49712" y="4191000"/>
            <a:ext cx="3021062" cy="409575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3400" y="4695825"/>
            <a:ext cx="3021062" cy="409575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49712" y="4695825"/>
            <a:ext cx="3021062" cy="409575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34575" y="2133600"/>
            <a:ext cx="1524000" cy="228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63225" y="2914650"/>
            <a:ext cx="857250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63225" y="3257550"/>
            <a:ext cx="857250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563225" y="3600450"/>
            <a:ext cx="857250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363200" y="3943350"/>
            <a:ext cx="1057275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34625" y="4286250"/>
            <a:ext cx="1085850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" y="419100"/>
            <a:ext cx="11658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ZIELSETZUNG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657225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Inter"/>
              </a:rPr>
              <a:t>Anforderungskatalog &amp; Erfüllungsgrad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81371" y="5372100"/>
            <a:ext cx="736691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F172A"/>
                </a:solidFill>
                <a:latin typeface="Inter"/>
              </a:rPr>
              <a:t>✅ </a:t>
            </a:r>
            <a:r>
              <a:rPr b="1" sz="1200" i="0" u="none">
                <a:solidFill>
                  <a:srgbClr val="0F172A"/>
                </a:solidFill>
                <a:latin typeface="Inter"/>
              </a:rPr>
              <a:t>M11 Abnahmetest: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Alle 13 Prüffälle erfolgreich bestanden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425" y="2147887"/>
            <a:ext cx="388798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11 MUSS-Anforderungen (M01–M11)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3449" y="2171700"/>
            <a:ext cx="1257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Inter"/>
              </a:rPr>
              <a:t>100 % Erfüllt (11/11)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790825"/>
            <a:ext cx="281151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✅ M01 Zentrale Instanz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02112" y="2790825"/>
            <a:ext cx="281151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✅ M02 Min. 2 Systeme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295650"/>
            <a:ext cx="281151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✅ M03 ICMP-Ping 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02112" y="3295650"/>
            <a:ext cx="281151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✅ M04 CPU/RAM/Disk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800475"/>
            <a:ext cx="281151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✅ M05 Dienste-Check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02112" y="3800475"/>
            <a:ext cx="281151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✅ M06 Grenzwerte definiert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305300"/>
            <a:ext cx="281151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✅ M07 Auto-Alarmierung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02112" y="4305300"/>
            <a:ext cx="281151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✅ M08 Zentrales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810125"/>
            <a:ext cx="281151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✅ M09 Custom Python 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02112" y="4810125"/>
            <a:ext cx="281151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✅ M10 3+ Störungen simuliert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7499" y="2147887"/>
            <a:ext cx="24253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KANN-Anforderungen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29825" y="2171700"/>
            <a:ext cx="1428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75985"/>
                </a:solidFill>
                <a:latin typeface="Inter"/>
              </a:rPr>
              <a:t>60 % Umgesetzt (3/5)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5599" y="2933700"/>
            <a:ext cx="2143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K01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E-Mail-Alarmierung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58475" y="295275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Inter"/>
              </a:rPr>
              <a:t>Umgesetzt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5599" y="3276600"/>
            <a:ext cx="2500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K02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Erweiterte Dashboards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58475" y="329565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Inter"/>
              </a:rPr>
              <a:t>Umgesetzt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5599" y="3619500"/>
            <a:ext cx="2488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K04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Erw. Eigenentwicklung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8475" y="363855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Inter"/>
              </a:rPr>
              <a:t>Umgesetzt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5599" y="3962400"/>
            <a:ext cx="2488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K03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SMS-Benachrichtigung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58450" y="3981450"/>
            <a:ext cx="962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2400E"/>
                </a:solidFill>
                <a:latin typeface="Inter"/>
              </a:rPr>
              <a:t>Zurückgestellt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5599" y="4305300"/>
            <a:ext cx="1750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K05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SLA-Reporting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9875" y="4324350"/>
            <a:ext cx="990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2400E"/>
                </a:solidFill>
                <a:latin typeface="Inter"/>
              </a:rPr>
              <a:t>Option Phase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2971800"/>
            <a:ext cx="17802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13682" y="2971800"/>
            <a:ext cx="3114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28654" y="2971800"/>
            <a:ext cx="3114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43627" y="2971800"/>
            <a:ext cx="3114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3390900"/>
            <a:ext cx="17802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682" y="3390900"/>
            <a:ext cx="3114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28654" y="3390900"/>
            <a:ext cx="3114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43627" y="3390900"/>
            <a:ext cx="3114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3810000"/>
            <a:ext cx="17802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13682" y="3810000"/>
            <a:ext cx="3114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28654" y="3810000"/>
            <a:ext cx="3114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3627" y="3810000"/>
            <a:ext cx="3114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3400" y="4229100"/>
            <a:ext cx="17802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3682" y="4229100"/>
            <a:ext cx="3114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28654" y="4229100"/>
            <a:ext cx="3114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43627" y="4229100"/>
            <a:ext cx="3114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3400" y="4648200"/>
            <a:ext cx="17802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3682" y="4648200"/>
            <a:ext cx="3114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28654" y="4648200"/>
            <a:ext cx="3114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43627" y="4648200"/>
            <a:ext cx="3114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3400" y="5067300"/>
            <a:ext cx="17802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3682" y="5067300"/>
            <a:ext cx="3114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28654" y="5067300"/>
            <a:ext cx="3114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43627" y="5067300"/>
            <a:ext cx="31149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3400" y="2176462"/>
            <a:ext cx="11125200" cy="33147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33400" y="2176462"/>
          <a:ext cx="11125198" cy="33147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80282"/>
                <a:gridCol w="3114972"/>
                <a:gridCol w="3114972"/>
                <a:gridCol w="3114972"/>
              </a:tblGrid>
              <a:tr h="41433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Kriterium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Checkmk Raw Edition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Zabbix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Nagios 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433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Lizenz / Typ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Open Source (GPLv2)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Open Source (GPLv2)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Open Source (GPLv2)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433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Web-Oberfläche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⭐⭐⭐⭐⭐ Moden &amp; Klar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⭐⭐⭐ Funktional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⭐⭐ Veraltet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433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Auto-Discovery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166534"/>
                          </a:solidFill>
                          <a:latin typeface="Inter"/>
                        </a:rPr>
                        <a:t>✅ Automatisch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166534"/>
                          </a:solidFill>
                          <a:latin typeface="Inter"/>
                        </a:rPr>
                        <a:t>✅ Regelbasiert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991B1B"/>
                          </a:solidFill>
                          <a:latin typeface="Inter"/>
                        </a:rPr>
                        <a:t>❌ Manuell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433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Agenten-Support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Linux &amp; Windows Ready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Linux &amp; Windows Ready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Plugin-abhängig (NRPE)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433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Dashboards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Integriert &amp; Anpassbar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Integriert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Extern nötig (Grafana)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433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Konfiguration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Vollständig via Web-GUI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Web-GUI / Vorlagen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Textdateien (CFG)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4341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Einrichtung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Sehr Schnell (Einfach)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Mittel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Komplex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33400" y="419100"/>
            <a:ext cx="11658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MARKTANALYSE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57225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Inter"/>
              </a:rPr>
              <a:t>Vergleich der Evaluierungskandidaten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50149" y="2376487"/>
            <a:ext cx="4508450" cy="895350"/>
          </a:xfrm>
          <a:prstGeom prst="roundRect">
            <a:avLst>
              <a:gd name="adj" fmla="val 12765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50149" y="3424237"/>
            <a:ext cx="450845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50149" y="4433887"/>
            <a:ext cx="4508450" cy="857250"/>
          </a:xfrm>
          <a:prstGeom prst="roundRect">
            <a:avLst>
              <a:gd name="adj" fmla="val 13333"/>
            </a:avLst>
          </a:prstGeom>
          <a:solidFill>
            <a:srgbClr val="FBFCFD"/>
          </a:solidFill>
          <a:ln w="9525">
            <a:solidFill>
              <a:srgbClr val="E9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3181350"/>
            <a:ext cx="1578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11573" y="3181350"/>
            <a:ext cx="9466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58269" y="3181350"/>
            <a:ext cx="1262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629" y="3181350"/>
            <a:ext cx="1262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82989" y="3181350"/>
            <a:ext cx="1262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3600450"/>
            <a:ext cx="1578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11573" y="3600450"/>
            <a:ext cx="9466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58269" y="3600450"/>
            <a:ext cx="1262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0629" y="3600450"/>
            <a:ext cx="1262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82989" y="3600450"/>
            <a:ext cx="1262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3400" y="4019550"/>
            <a:ext cx="1578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11573" y="4019550"/>
            <a:ext cx="9466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58269" y="4019550"/>
            <a:ext cx="1262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0629" y="4019550"/>
            <a:ext cx="1262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82989" y="4019550"/>
            <a:ext cx="1262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400" y="4438650"/>
            <a:ext cx="1578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11573" y="4438650"/>
            <a:ext cx="9466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58269" y="4438650"/>
            <a:ext cx="1262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0629" y="4438650"/>
            <a:ext cx="1262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82989" y="4438650"/>
            <a:ext cx="1262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3400" y="4857750"/>
            <a:ext cx="1578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11573" y="4857750"/>
            <a:ext cx="9466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58269" y="4857750"/>
            <a:ext cx="1262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0629" y="4857750"/>
            <a:ext cx="1262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82989" y="4857750"/>
            <a:ext cx="1262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3400" y="2386012"/>
            <a:ext cx="6311949" cy="28956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33400" y="2386012"/>
          <a:ext cx="6311948" cy="28956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78173"/>
                <a:gridCol w="946695"/>
                <a:gridCol w="1262360"/>
                <a:gridCol w="1262360"/>
                <a:gridCol w="1262360"/>
              </a:tblGrid>
              <a:tr h="41365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Kriterium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Gewicht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Checkmk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Zabbix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Nagios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3657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Bedienbarkeit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20 %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5 /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3 /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2 /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3657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Visualisierung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15 %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5 /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4 /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2 /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3657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Alarmierung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15 %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4 /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4 /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3 /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3657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Netzwerkdienste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15 %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4 /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5 /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4 /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3657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OS-Support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10 %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4 /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5 /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4 /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3658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Kosten / Lizenz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10 %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5 /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5 /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5 /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33400" y="419100"/>
            <a:ext cx="11658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BEWERTUNGSMETHODIK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657225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Inter"/>
              </a:rPr>
              <a:t>Ergebnis der Nutzwertanalyse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274" y="2614612"/>
            <a:ext cx="14478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Inter"/>
              </a:rPr>
              <a:t>🥇 1. PLATZ (SIEGER)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77475" y="2638425"/>
            <a:ext cx="14287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5803D"/>
                </a:solidFill>
                <a:latin typeface="Inter"/>
              </a:rPr>
              <a:t>4,40 </a:t>
            </a:r>
            <a:r>
              <a:rPr b="1" sz="1200" i="0" u="none">
                <a:solidFill>
                  <a:srgbClr val="166534"/>
                </a:solidFill>
                <a:latin typeface="Inter"/>
              </a:rPr>
              <a:t>/ 5.0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88274" y="3662362"/>
            <a:ext cx="714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🥈 2. Platz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44225" y="3729037"/>
            <a:ext cx="762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75569"/>
                </a:solidFill>
                <a:latin typeface="Inter"/>
              </a:rPr>
              <a:t>4,20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88274" y="4672012"/>
            <a:ext cx="1019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🥉 3. Platz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53750" y="4738687"/>
            <a:ext cx="7524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75569"/>
                </a:solidFill>
                <a:latin typeface="Inter"/>
              </a:rPr>
              <a:t>3,30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88274" y="2805112"/>
            <a:ext cx="177522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Checkmk Raw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88274" y="3852862"/>
            <a:ext cx="9501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Zabbix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88274" y="4862512"/>
            <a:ext cx="127015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Nagios 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245298"/>
            <a:ext cx="11125200" cy="514350"/>
          </a:xfrm>
          <a:prstGeom prst="roundRect">
            <a:avLst>
              <a:gd name="adj" fmla="val 1851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1907976"/>
            <a:ext cx="3581400" cy="1459110"/>
          </a:xfrm>
          <a:prstGeom prst="roundRect">
            <a:avLst>
              <a:gd name="adj" fmla="val 78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05300" y="1907976"/>
            <a:ext cx="3581400" cy="1459110"/>
          </a:xfrm>
          <a:prstGeom prst="roundRect">
            <a:avLst>
              <a:gd name="adj" fmla="val 78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1907976"/>
            <a:ext cx="3581400" cy="1459110"/>
          </a:xfrm>
          <a:prstGeom prst="roundRect">
            <a:avLst>
              <a:gd name="adj" fmla="val 78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3557587"/>
            <a:ext cx="3581400" cy="1459110"/>
          </a:xfrm>
          <a:prstGeom prst="roundRect">
            <a:avLst>
              <a:gd name="adj" fmla="val 78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05300" y="3557587"/>
            <a:ext cx="3581400" cy="1459110"/>
          </a:xfrm>
          <a:prstGeom prst="roundRect">
            <a:avLst>
              <a:gd name="adj" fmla="val 78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77200" y="3557587"/>
            <a:ext cx="3581400" cy="1459110"/>
          </a:xfrm>
          <a:prstGeom prst="roundRect">
            <a:avLst>
              <a:gd name="adj" fmla="val 78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146101"/>
            <a:ext cx="25717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425" y="2146101"/>
            <a:ext cx="25717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2146101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795712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3425" y="3795712"/>
            <a:ext cx="20002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5325" y="3795712"/>
            <a:ext cx="257175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400" y="419100"/>
            <a:ext cx="11658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ENTSCHEIDUNG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57225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Inter"/>
              </a:rPr>
              <a:t>Warum Checkmk Raw Edition?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279796" y="5407223"/>
            <a:ext cx="12751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369A1"/>
                </a:solidFill>
                <a:latin typeface="Inter"/>
              </a:rPr>
              <a:t>👉 Beste Kombination aus hoher Benutzerfreundlichkeit und mächtigem Funktionsumfang für Müller &amp; Partner.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2489001"/>
            <a:ext cx="407550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Intuitivste GUI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2755701"/>
            <a:ext cx="32004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Geringer Schulungsaufwand für Admins durch übersichtliche Dashboards.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3425" y="2489001"/>
            <a:ext cx="407550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Auto-Discovery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3425" y="2755701"/>
            <a:ext cx="32004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Automatische Erkennung aller laufenden Dienste spart Stunden bei der Einrichtung.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325" y="2489001"/>
            <a:ext cx="38766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Vorgefertigte Agenten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5325" y="2755701"/>
            <a:ext cx="32004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Leichtgewichtige Agenten für Linux und Windows direkt out-of-the-box verfügbar.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525" y="4138612"/>
            <a:ext cx="407550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100 % Kostenlos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25" y="4405312"/>
            <a:ext cx="32004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Open Source (GPL v2) ohne Lizenzgebühren oder Host-Einschränkungen.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3425" y="4138612"/>
            <a:ext cx="407550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Top Dokumentation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3425" y="4405312"/>
            <a:ext cx="32004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Umfangreiche offizielle Handbücher und aktive Open-Source-Community.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5325" y="4138612"/>
            <a:ext cx="38766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Zukunftssicher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5325" y="4405312"/>
            <a:ext cx="32004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Nahtloser Upgrade-Pfad auf die Enterprise Edition bei wachsenden Anforderungen.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619375"/>
            <a:ext cx="6139308" cy="2428875"/>
          </a:xfrm>
          <a:prstGeom prst="roundRect">
            <a:avLst>
              <a:gd name="adj" fmla="val 4705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1525" y="3171825"/>
            <a:ext cx="5663058" cy="638175"/>
          </a:xfrm>
          <a:prstGeom prst="roundRect">
            <a:avLst>
              <a:gd name="adj" fmla="val 11940"/>
            </a:avLst>
          </a:prstGeom>
          <a:noFill/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1525" y="4267200"/>
            <a:ext cx="2774453" cy="542925"/>
          </a:xfrm>
          <a:prstGeom prst="roundRect">
            <a:avLst>
              <a:gd name="adj" fmla="val 14035"/>
            </a:avLst>
          </a:prstGeom>
          <a:noFill/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60278" y="4267200"/>
            <a:ext cx="2774453" cy="542925"/>
          </a:xfrm>
          <a:prstGeom prst="roundRect">
            <a:avLst>
              <a:gd name="adj" fmla="val 14035"/>
            </a:avLst>
          </a:prstGeom>
          <a:noFill/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39408" y="3709987"/>
            <a:ext cx="10864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25854" y="3709987"/>
            <a:ext cx="1362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87929" y="3709987"/>
            <a:ext cx="9626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50549" y="3709987"/>
            <a:ext cx="1308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39408" y="4310062"/>
            <a:ext cx="10864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25854" y="4310062"/>
            <a:ext cx="1362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87929" y="4310062"/>
            <a:ext cx="9626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50549" y="4310062"/>
            <a:ext cx="1308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39408" y="2571750"/>
            <a:ext cx="4719191" cy="25241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939408" y="2571750"/>
          <a:ext cx="4719190" cy="25241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086445"/>
                <a:gridCol w="1362075"/>
                <a:gridCol w="962620"/>
                <a:gridCol w="1308050"/>
              </a:tblGrid>
              <a:tr h="63103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Hostname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Betriebssystem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IP-Adresse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Rolle / Dienste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mon-srv01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Ubuntu 22.04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.100.10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Checkmk Server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web-srv01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Debian 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.100.20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Apache, MySQL, SSH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3103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win-client01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Windows 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.100.30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RDP, Windows Agent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33400" y="419100"/>
            <a:ext cx="11658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ARCHITEKTUR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57225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Inter"/>
              </a:rPr>
              <a:t>Testumgebung &amp; Netzwerkarchitektur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2857500"/>
            <a:ext cx="707882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// Virtuelles Subnetz: 192.168.100.0/24 (VirtualBox Host-Only)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286125"/>
            <a:ext cx="5529708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ADE80"/>
                </a:solidFill>
                <a:latin typeface="JetBrains Mono"/>
              </a:rPr>
              <a:t>[mon-srv01]</a:t>
            </a:r>
            <a:r>
              <a:rPr b="0" sz="1200" i="0" u="none">
                <a:solidFill>
                  <a:srgbClr val="F8FAFC"/>
                </a:solidFill>
                <a:latin typeface="JetBrains Mono"/>
              </a:rPr>
              <a:t> 192.168.100.10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" y="3533775"/>
            <a:ext cx="676926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Ubuntu 22.04 LTS | Central Checkmk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3296" y="3962400"/>
            <a:ext cx="143488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│ Agent Port 6556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4751" y="3962400"/>
            <a:ext cx="143488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│ Agent Port 6556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775" y="4362450"/>
            <a:ext cx="2679203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0A5FA"/>
                </a:solidFill>
                <a:latin typeface="JetBrains Mono"/>
              </a:rPr>
              <a:t>[web-srv01]</a:t>
            </a:r>
            <a:r>
              <a:rPr b="0" sz="1200" i="0" u="none">
                <a:solidFill>
                  <a:srgbClr val="F8FAFC"/>
                </a:solidFill>
                <a:latin typeface="JetBrains Mono"/>
              </a:rPr>
              <a:t> .100.20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5528" y="4362450"/>
            <a:ext cx="2679203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ACC15"/>
                </a:solidFill>
                <a:latin typeface="JetBrains Mono"/>
              </a:rPr>
              <a:t>[win-client01]</a:t>
            </a:r>
            <a:r>
              <a:rPr b="0" sz="1200" i="0" u="none">
                <a:solidFill>
                  <a:srgbClr val="F8FAFC"/>
                </a:solidFill>
                <a:latin typeface="JetBrains Mono"/>
              </a:rPr>
              <a:t> .100.30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4572000"/>
            <a:ext cx="320612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JetBrains Mono"/>
              </a:rPr>
              <a:t>Debian 12 (Apache, MySQL)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65053" y="4572000"/>
            <a:ext cx="320612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JetBrains Mono"/>
              </a:rPr>
              <a:t>Windows 10 Pro (RDP)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443162"/>
            <a:ext cx="5195441" cy="2781300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95541" y="3590925"/>
            <a:ext cx="18374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32973" y="3590925"/>
            <a:ext cx="19127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45712" y="3590925"/>
            <a:ext cx="1912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95541" y="4010025"/>
            <a:ext cx="18374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32973" y="4010025"/>
            <a:ext cx="19127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45712" y="4010025"/>
            <a:ext cx="1912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95541" y="4429125"/>
            <a:ext cx="18374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32973" y="4429125"/>
            <a:ext cx="19127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45712" y="4429125"/>
            <a:ext cx="1912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700337"/>
            <a:ext cx="171450" cy="17145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95541" y="2795587"/>
            <a:ext cx="5663058" cy="20574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95541" y="2795587"/>
          <a:ext cx="5663058" cy="20574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37432"/>
                <a:gridCol w="1912739"/>
                <a:gridCol w="1912887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Messgrösse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⚠️ WARN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🔴 CRIT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CPU-Auslastung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&gt; 80 % (über 5 Min)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&gt; 95 % (über 5 Min)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RAM-Belegung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&gt; 85 % Auslastung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&gt; 95 % Auslastung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Festplattenplatz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&gt; 85 % belegt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&gt; 95 % belegt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HTTP-Antwortzeit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&gt; 2.0 Sekunden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&gt; 5.0s / Ausfall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33400" y="419100"/>
            <a:ext cx="11658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KONFIGURATION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57225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Inter"/>
              </a:rPr>
              <a:t>Überwachungsumfang &amp; Schwellwerte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2681287"/>
            <a:ext cx="6193938" cy="20002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Überwachte Metriken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5541" y="2443162"/>
            <a:ext cx="619645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Definierte Grenzwerte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3033712"/>
            <a:ext cx="589898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🖥️ </a:t>
            </a:r>
            <a:r>
              <a:rPr b="1" sz="1125" i="0" u="none">
                <a:solidFill>
                  <a:srgbClr val="334155"/>
                </a:solidFill>
                <a:latin typeface="Inter"/>
              </a:rPr>
              <a:t>CPU-Auslastung: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CPU Load &amp; Utilization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3328987"/>
            <a:ext cx="589898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💾 </a:t>
            </a:r>
            <a:r>
              <a:rPr b="1" sz="1125" i="0" u="none">
                <a:solidFill>
                  <a:srgbClr val="334155"/>
                </a:solidFill>
                <a:latin typeface="Inter"/>
              </a:rPr>
              <a:t>Arbeitsspeicher: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RAM-Belegung &amp; Swap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3624262"/>
            <a:ext cx="589898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💿 </a:t>
            </a:r>
            <a:r>
              <a:rPr b="1" sz="1125" i="0" u="none">
                <a:solidFill>
                  <a:srgbClr val="334155"/>
                </a:solidFill>
                <a:latin typeface="Inter"/>
              </a:rPr>
              <a:t>Festplatten: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Füllstand aller Partitionen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3919537"/>
            <a:ext cx="589898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🌐 </a:t>
            </a:r>
            <a:r>
              <a:rPr b="1" sz="1125" i="0" u="none">
                <a:solidFill>
                  <a:srgbClr val="334155"/>
                </a:solidFill>
                <a:latin typeface="Inter"/>
              </a:rPr>
              <a:t>Netzwerk: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Durchsatz &amp; Paketfehler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4214812"/>
            <a:ext cx="589898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🔌 </a:t>
            </a:r>
            <a:r>
              <a:rPr b="1" sz="1125" i="0" u="none">
                <a:solidFill>
                  <a:srgbClr val="334155"/>
                </a:solidFill>
                <a:latin typeface="Inter"/>
              </a:rPr>
              <a:t>Dienste: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Apache2, MySQL, SSH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525" y="4510087"/>
            <a:ext cx="589898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📡 </a:t>
            </a:r>
            <a:r>
              <a:rPr b="1" sz="1125" i="0" u="none">
                <a:solidFill>
                  <a:srgbClr val="334155"/>
                </a:solidFill>
                <a:latin typeface="Inter"/>
              </a:rPr>
              <a:t>Erreichbarkeit: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ICMP Ping &amp; Antwortzeit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25" y="4805362"/>
            <a:ext cx="589898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🔧 </a:t>
            </a:r>
            <a:r>
              <a:rPr b="1" sz="1125" i="0" u="none">
                <a:solidFill>
                  <a:srgbClr val="334155"/>
                </a:solidFill>
                <a:latin typeface="Inter"/>
              </a:rPr>
              <a:t>Custom Check: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Aktive TCP-Verbindungen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029866"/>
            <a:ext cx="6303019" cy="3607891"/>
          </a:xfrm>
          <a:prstGeom prst="roundRect">
            <a:avLst>
              <a:gd name="adj" fmla="val 316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03119" y="2029866"/>
            <a:ext cx="4555480" cy="1302841"/>
          </a:xfrm>
          <a:prstGeom prst="roundRect">
            <a:avLst>
              <a:gd name="adj" fmla="val 87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03119" y="3485108"/>
            <a:ext cx="4555480" cy="9715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03119" y="4609058"/>
            <a:ext cx="4555480" cy="10287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41244" y="3989933"/>
            <a:ext cx="1285875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41419" y="3989933"/>
            <a:ext cx="1228725" cy="2286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419100"/>
            <a:ext cx="11658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ANFORDERUNG M09 &amp; K04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57225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Inter"/>
              </a:rPr>
              <a:t>Eigenentwicklung: TCP Local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2220366"/>
            <a:ext cx="6017269" cy="3226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43F5E"/>
                </a:solidFill>
                <a:latin typeface="JetBrains Mono"/>
              </a:rPr>
              <a:t>import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subprocess </a:t>
            </a:r>
            <a:r>
              <a:rPr b="0" sz="975" i="0" u="none">
                <a:solidFill>
                  <a:srgbClr val="F43F5E"/>
                </a:solidFill>
                <a:latin typeface="JetBrains Mono"/>
              </a:rPr>
              <a:t>def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get_tcp_connections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(): res = subprocess.run( [</a:t>
            </a:r>
            <a:r>
              <a:rPr b="0" sz="975" i="0" u="none">
                <a:solidFill>
                  <a:srgbClr val="A5F3FC"/>
                </a:solidFill>
                <a:latin typeface="JetBrains Mono"/>
              </a:rPr>
              <a:t>'ss'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, </a:t>
            </a:r>
            <a:r>
              <a:rPr b="0" sz="975" i="0" u="none">
                <a:solidFill>
                  <a:srgbClr val="A5F3FC"/>
                </a:solidFill>
                <a:latin typeface="JetBrains Mono"/>
              </a:rPr>
              <a:t>'-t'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, </a:t>
            </a:r>
            <a:r>
              <a:rPr b="0" sz="975" i="0" u="none">
                <a:solidFill>
                  <a:srgbClr val="A5F3FC"/>
                </a:solidFill>
                <a:latin typeface="JetBrains Mono"/>
              </a:rPr>
              <a:t>'-n'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, </a:t>
            </a:r>
            <a:r>
              <a:rPr b="0" sz="975" i="0" u="none">
                <a:solidFill>
                  <a:srgbClr val="A5F3FC"/>
                </a:solidFill>
                <a:latin typeface="JetBrains Mono"/>
              </a:rPr>
              <a:t>'state'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, </a:t>
            </a:r>
            <a:r>
              <a:rPr b="0" sz="975" i="0" u="none">
                <a:solidFill>
                  <a:srgbClr val="A5F3FC"/>
                </a:solidFill>
                <a:latin typeface="JetBrains Mono"/>
              </a:rPr>
              <a:t>'established'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], capture_output=</a:t>
            </a:r>
            <a:r>
              <a:rPr b="0" sz="975" i="0" u="none">
                <a:solidFill>
                  <a:srgbClr val="F59E0B"/>
                </a:solidFill>
                <a:latin typeface="JetBrains Mono"/>
              </a:rPr>
              <a:t>True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, text=</a:t>
            </a:r>
            <a:r>
              <a:rPr b="0" sz="975" i="0" u="none">
                <a:solidFill>
                  <a:srgbClr val="F59E0B"/>
                </a:solidFill>
                <a:latin typeface="JetBrains Mono"/>
              </a:rPr>
              <a:t>True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) lines = res.stdout.strip().split(</a:t>
            </a:r>
            <a:r>
              <a:rPr b="0" sz="975" i="0" u="none">
                <a:solidFill>
                  <a:srgbClr val="A5F3FC"/>
                </a:solidFill>
                <a:latin typeface="JetBrains Mono"/>
              </a:rPr>
              <a:t>'\n'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) </a:t>
            </a:r>
            <a:r>
              <a:rPr b="0" sz="975" i="0" u="none">
                <a:solidFill>
                  <a:srgbClr val="F43F5E"/>
                </a:solidFill>
                <a:latin typeface="JetBrains Mono"/>
              </a:rPr>
              <a:t>return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max(</a:t>
            </a:r>
            <a:r>
              <a:rPr b="0" sz="975" i="0" u="none">
                <a:solidFill>
                  <a:srgbClr val="F59E0B"/>
                </a:solidFill>
                <a:latin typeface="JetBrains Mono"/>
              </a:rPr>
              <a:t>0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, len(lines) - </a:t>
            </a:r>
            <a:r>
              <a:rPr b="0" sz="975" i="0" u="none">
                <a:solidFill>
                  <a:srgbClr val="F59E0B"/>
                </a:solidFill>
                <a:latin typeface="JetBrains Mono"/>
              </a:rPr>
              <a:t>1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) count = get_tcp_connections() </a:t>
            </a:r>
            <a:r>
              <a:rPr b="0" sz="975" i="0" u="none">
                <a:solidFill>
                  <a:srgbClr val="F43F5E"/>
                </a:solidFill>
                <a:latin typeface="JetBrains Mono"/>
              </a:rPr>
              <a:t>print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(f</a:t>
            </a:r>
            <a:r>
              <a:rPr b="0" sz="975" i="0" u="none">
                <a:solidFill>
                  <a:srgbClr val="A5F3FC"/>
                </a:solidFill>
                <a:latin typeface="JetBrains Mono"/>
              </a:rPr>
              <a:t>"0 Active_TCP_Conn count={count};100;200 OK - {count} aktive TCP-Verbindungen"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2220366"/>
            <a:ext cx="740252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# Checkmk Local Check - tcp_conn_check.py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2496591"/>
            <a:ext cx="6017269" cy="2078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F43F5E"/>
                </a:solidFill>
                <a:latin typeface="monospace"/>
              </a:rPr>
              <a:t>import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subprocess 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def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</a:t>
            </a:r>
            <a:r>
              <a:rPr b="0" sz="975" i="0" u="none">
                <a:solidFill>
                  <a:srgbClr val="38BDF8"/>
                </a:solidFill>
                <a:latin typeface="monospace"/>
              </a:rPr>
              <a:t>get_tcp_connections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(): res = subprocess.run( [</a:t>
            </a:r>
            <a:r>
              <a:rPr b="0" sz="975" i="0" u="none">
                <a:solidFill>
                  <a:srgbClr val="A5F3FC"/>
                </a:solidFill>
                <a:latin typeface="monospace"/>
              </a:rPr>
              <a:t>'ss'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, </a:t>
            </a:r>
            <a:r>
              <a:rPr b="0" sz="975" i="0" u="none">
                <a:solidFill>
                  <a:srgbClr val="A5F3FC"/>
                </a:solidFill>
                <a:latin typeface="monospace"/>
              </a:rPr>
              <a:t>'-t'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, </a:t>
            </a:r>
            <a:r>
              <a:rPr b="0" sz="975" i="0" u="none">
                <a:solidFill>
                  <a:srgbClr val="A5F3FC"/>
                </a:solidFill>
                <a:latin typeface="monospace"/>
              </a:rPr>
              <a:t>'-n'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, </a:t>
            </a:r>
            <a:r>
              <a:rPr b="0" sz="975" i="0" u="none">
                <a:solidFill>
                  <a:srgbClr val="A5F3FC"/>
                </a:solidFill>
                <a:latin typeface="monospace"/>
              </a:rPr>
              <a:t>'state'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, </a:t>
            </a:r>
            <a:r>
              <a:rPr b="0" sz="975" i="0" u="none">
                <a:solidFill>
                  <a:srgbClr val="A5F3FC"/>
                </a:solidFill>
                <a:latin typeface="monospace"/>
              </a:rPr>
              <a:t>'established'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], capture_output=</a:t>
            </a:r>
            <a:r>
              <a:rPr b="0" sz="975" i="0" u="none">
                <a:solidFill>
                  <a:srgbClr val="F59E0B"/>
                </a:solidFill>
                <a:latin typeface="monospace"/>
              </a:rPr>
              <a:t>True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, text=</a:t>
            </a:r>
            <a:r>
              <a:rPr b="0" sz="975" i="0" u="none">
                <a:solidFill>
                  <a:srgbClr val="F59E0B"/>
                </a:solidFill>
                <a:latin typeface="monospace"/>
              </a:rPr>
              <a:t>True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) lines = res.stdout.strip().split(</a:t>
            </a:r>
            <a:r>
              <a:rPr b="0" sz="975" i="0" u="none">
                <a:solidFill>
                  <a:srgbClr val="A5F3FC"/>
                </a:solidFill>
                <a:latin typeface="monospace"/>
              </a:rPr>
              <a:t>'\n'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) 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return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max(</a:t>
            </a:r>
            <a:r>
              <a:rPr b="0" sz="975" i="0" u="none">
                <a:solidFill>
                  <a:srgbClr val="F59E0B"/>
                </a:solidFill>
                <a:latin typeface="monospace"/>
              </a:rPr>
              <a:t>0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, len(lines) - </a:t>
            </a:r>
            <a:r>
              <a:rPr b="0" sz="975" i="0" u="none">
                <a:solidFill>
                  <a:srgbClr val="F59E0B"/>
                </a:solidFill>
                <a:latin typeface="monospace"/>
              </a:rPr>
              <a:t>1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) count = get_tcp_connections() 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print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(f</a:t>
            </a:r>
            <a:r>
              <a:rPr b="0" sz="975" i="0" u="none">
                <a:solidFill>
                  <a:srgbClr val="A5F3FC"/>
                </a:solidFill>
                <a:latin typeface="monospace"/>
              </a:rPr>
              <a:t>"0 Active_TCP_Conn count={count};100;200 OK - {count} aktive TCP-Verbindungen"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1719" y="4837658"/>
            <a:ext cx="419353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K04 ERWEITERUNG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1244" y="2267991"/>
            <a:ext cx="485075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Funktionsweise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1244" y="2534691"/>
            <a:ext cx="417448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Liest etablierte TCP-Sitzungen via Socket-Statistik aus und übermittelt Daten inkl. Schwellwerten direkt an den Checkmk-Agenten.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1244" y="3723233"/>
            <a:ext cx="485075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Schwellwerte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1244" y="5075783"/>
            <a:ext cx="417448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Zusätzlich Port-Spezifische Analyse, Top-5 Verbindungsziele und Command-Line-Argumente (argparse).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6494" y="4028033"/>
            <a:ext cx="11906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2400E"/>
                </a:solidFill>
                <a:latin typeface="Inter"/>
              </a:rPr>
              <a:t>WARN &gt; 100 Conn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6669" y="4028033"/>
            <a:ext cx="1133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91B1B"/>
                </a:solidFill>
                <a:latin typeface="Inter"/>
              </a:rPr>
              <a:t>CRIT &gt; 200 Conn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4681537"/>
            <a:ext cx="11125200" cy="552450"/>
          </a:xfrm>
          <a:prstGeom prst="roundRect">
            <a:avLst>
              <a:gd name="adj" fmla="val 17241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401175" y="4843462"/>
            <a:ext cx="2057400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3228975"/>
            <a:ext cx="7227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56109" y="3228975"/>
            <a:ext cx="25552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11339" y="3228975"/>
            <a:ext cx="38335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44854" y="3228975"/>
            <a:ext cx="12517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96647" y="3228975"/>
            <a:ext cx="10968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93510" y="3228975"/>
            <a:ext cx="16650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3648075"/>
            <a:ext cx="7227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56109" y="3648075"/>
            <a:ext cx="25552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11339" y="3648075"/>
            <a:ext cx="38335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44854" y="3648075"/>
            <a:ext cx="12517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96647" y="3648075"/>
            <a:ext cx="10968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993510" y="3648075"/>
            <a:ext cx="16650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3400" y="4067175"/>
            <a:ext cx="7227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56109" y="4067175"/>
            <a:ext cx="25552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11339" y="4067175"/>
            <a:ext cx="38335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44854" y="4067175"/>
            <a:ext cx="12517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96647" y="4067175"/>
            <a:ext cx="10968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93510" y="4067175"/>
            <a:ext cx="16650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3400" y="2433637"/>
            <a:ext cx="11125200" cy="20574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33400" y="2433637"/>
          <a:ext cx="11125198" cy="20574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722709"/>
                <a:gridCol w="2555230"/>
                <a:gridCol w="3833514"/>
                <a:gridCol w="1251793"/>
                <a:gridCol w="1096863"/>
                <a:gridCol w="1665089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Nr.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Simulierte Störung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Methode / Befehl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Erkannt?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Alarm?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Reaktionszeit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Apache-Dienst Ausfall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systemctl stop apache2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✅ Ja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✅ Ja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47s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Hohe CPU-Vollast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stress --cpu 4 --timeout 120s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✅ Ja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✅ Ja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62s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Festplatte vollgelaufen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dd if=/dev/zero of=/fill.img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✅ Ja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✅ Ja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60s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VM Totalausfall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poweroff</a:t>
                      </a:r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 (Virtuelle Maschine)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✅ Ja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✅ Ja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127s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33400" y="419100"/>
            <a:ext cx="11658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HÄRTETEST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57225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Inter"/>
              </a:rPr>
              <a:t>Störungssimulation &amp; Reaktionszeiten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425" y="4867275"/>
            <a:ext cx="8001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Inter"/>
              </a:rPr>
              <a:t>🎯 </a:t>
            </a:r>
            <a:r>
              <a:rPr b="1" sz="1125" i="0" u="none">
                <a:solidFill>
                  <a:srgbClr val="166534"/>
                </a:solidFill>
                <a:latin typeface="Inter"/>
              </a:rPr>
              <a:t>Ergebnis:</a:t>
            </a:r>
            <a:r>
              <a:rPr b="1" sz="1125" i="0" u="none">
                <a:solidFill>
                  <a:srgbClr val="166534"/>
                </a:solidFill>
                <a:latin typeface="Inter"/>
              </a:rPr>
              <a:t> 100 % aller simulierten Störungen wurden zuverlässig im Dashboard gemeldet.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6425" y="4881562"/>
            <a:ext cx="1962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Inter"/>
              </a:rPr>
              <a:t>Alle Systeme wiederhergestellt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838450"/>
            <a:ext cx="3555950" cy="1990725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17950" y="2838450"/>
            <a:ext cx="3555950" cy="1990725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838450"/>
            <a:ext cx="3555950" cy="1990725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89250" y="3943350"/>
            <a:ext cx="561975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83300" y="3943350"/>
            <a:ext cx="752475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67851" y="3943350"/>
            <a:ext cx="752475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419100"/>
            <a:ext cx="11658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EVALUIERUNG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57225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Inter"/>
              </a:rPr>
              <a:t>Datenanalyse &amp; Schwellwert-Validierung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076575"/>
            <a:ext cx="40421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🖥️ CPU-Auslastung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286250"/>
            <a:ext cx="3174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Grenzwerte praxisnah gewählt, um kurze Peaks zu tolerieren.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075" y="3076575"/>
            <a:ext cx="40421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💿 Festplattenplatz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075" y="4286250"/>
            <a:ext cx="3174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Prognose-Trendanalyse empfohlen für Kapazitätsplanung.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0625" y="3076575"/>
            <a:ext cx="385137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🌐 HTTP-Antwortzeit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0625" y="4286250"/>
            <a:ext cx="3174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Zusätzlicher Content-Check empfohlen (Prüfung auf HTTP 200).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3390900"/>
            <a:ext cx="1047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Normalwert: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4025" y="3390900"/>
            <a:ext cx="7429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5–15 %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3629025"/>
            <a:ext cx="11620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Störungswert: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2575" y="3629025"/>
            <a:ext cx="914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Inter"/>
              </a:rPr>
              <a:t>98–100 %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3943350"/>
            <a:ext cx="10001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Erkennbarkeit: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4500" y="3981450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Inter"/>
              </a:rPr>
              <a:t>Sofort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6075" y="3390900"/>
            <a:ext cx="1047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Normalwert: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4275" y="3390900"/>
            <a:ext cx="857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35–45 %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6075" y="3629025"/>
            <a:ext cx="11620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Störungswert: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7125" y="3629025"/>
            <a:ext cx="914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Inter"/>
              </a:rPr>
              <a:t>85–100 %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6075" y="3943350"/>
            <a:ext cx="10001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Erkennbarkeit: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8550" y="3981450"/>
            <a:ext cx="6572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Inter"/>
              </a:rPr>
              <a:t>Eindeutig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0625" y="3390900"/>
            <a:ext cx="1047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Normalwert: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9301" y="3390900"/>
            <a:ext cx="8667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&lt; 100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0625" y="3629025"/>
            <a:ext cx="11620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Störungswert: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451" y="3629025"/>
            <a:ext cx="1190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Inter"/>
              </a:rPr>
              <a:t>Refused / 5s+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0625" y="3943350"/>
            <a:ext cx="10001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Erkennbarkeit: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63101" y="3981450"/>
            <a:ext cx="6572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Inter"/>
              </a:rPr>
              <a:t>Eindeutig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63158" y="2586037"/>
            <a:ext cx="5195441" cy="24955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76675"/>
            <a:ext cx="2816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50121" y="3876675"/>
            <a:ext cx="28463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4476750"/>
            <a:ext cx="2816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50121" y="4476750"/>
            <a:ext cx="28463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605087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283" y="2843212"/>
            <a:ext cx="133350" cy="1714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3400" y="2900362"/>
            <a:ext cx="5663058" cy="21812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3400" y="2900362"/>
          <a:ext cx="5663058" cy="21812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816721"/>
                <a:gridCol w="2846337"/>
              </a:tblGrid>
              <a:tr h="545306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Herausforderung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Lösung im Projekt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VM-Netzwerk-Konfiguration zeitaufwändig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Statische IP-Vergabe &amp; Vorab-Planung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Windows Firewall blockiert Port 6556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Inbound-Regel für Checkmk Agent erstellt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5307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Parallel-Dokumentation herausfordernd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Einführung projektbegleitender Notizen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33400" y="419100"/>
            <a:ext cx="11658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ERFAHRUNGEN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57225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Inter"/>
              </a:rPr>
              <a:t>Herausforderungen &amp; Lessons Learned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2586037"/>
            <a:ext cx="7432764" cy="20002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Aufgetretene Probleme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1283" y="2824162"/>
            <a:ext cx="5490716" cy="200025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Lessons Learned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1283" y="3138487"/>
            <a:ext cx="481444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⏱️ </a:t>
            </a:r>
            <a:r>
              <a:rPr b="1" sz="1050" i="0" u="none">
                <a:solidFill>
                  <a:srgbClr val="334155"/>
                </a:solidFill>
                <a:latin typeface="Inter"/>
              </a:rPr>
              <a:t>Infrastruktur-Puffer: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Mehr Zeitfenster für VM-Setups &amp; Netze einplanen.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1283" y="3595687"/>
            <a:ext cx="481444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📝 </a:t>
            </a:r>
            <a:r>
              <a:rPr b="1" sz="1050" i="0" u="none">
                <a:solidFill>
                  <a:srgbClr val="334155"/>
                </a:solidFill>
                <a:latin typeface="Inter"/>
              </a:rPr>
              <a:t>Begleitende Doku: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Testergebnisse direkt protokollieren spart Endspurt-Zeit.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1283" y="4052887"/>
            <a:ext cx="481444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🔄 </a:t>
            </a:r>
            <a:r>
              <a:rPr b="1" sz="1050" i="0" u="none">
                <a:solidFill>
                  <a:srgbClr val="334155"/>
                </a:solidFill>
                <a:latin typeface="Inter"/>
              </a:rPr>
              <a:t>Interaktives Testen: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Frühe Störungssimulation sichert die Konfiguration ab.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4271962"/>
            <a:ext cx="11125200" cy="885825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2509837"/>
            <a:ext cx="2609850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71850" y="2509837"/>
            <a:ext cx="2609850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2509837"/>
            <a:ext cx="2609850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48750" y="2509837"/>
            <a:ext cx="2609850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419100"/>
            <a:ext cx="11658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FAZIT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57225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Inter"/>
              </a:rPr>
              <a:t>Projektergebnis &amp; Zielerreichung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68" y="2738437"/>
            <a:ext cx="2805112" cy="1038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MUSS-ANFORDERUNGEN</a:t>
            </a:r>
            <a:r>
              <a:rPr b="1" sz="1050" i="0" u="none">
                <a:solidFill>
                  <a:srgbClr val="64748B"/>
                </a:solidFill>
                <a:latin typeface="Inter"/>
              </a:rPr>
              <a:t> </a:t>
            </a:r>
            <a:r>
              <a:rPr b="1" sz="975" i="0" u="none">
                <a:solidFill>
                  <a:srgbClr val="15803D"/>
                </a:solidFill>
                <a:latin typeface="Inter"/>
              </a:rPr>
              <a:t>11 von 11 erfüllt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4218" y="2738437"/>
            <a:ext cx="2805112" cy="1038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KANN-ANFORDERUNGEN</a:t>
            </a:r>
            <a:r>
              <a:rPr b="1" sz="1050" i="0" u="none">
                <a:solidFill>
                  <a:srgbClr val="64748B"/>
                </a:solidFill>
                <a:latin typeface="Inter"/>
              </a:rPr>
              <a:t> </a:t>
            </a:r>
            <a:r>
              <a:rPr b="1" sz="975" i="0" u="none">
                <a:solidFill>
                  <a:srgbClr val="0369A1"/>
                </a:solidFill>
                <a:latin typeface="Inter"/>
              </a:rPr>
              <a:t>3 von 5 umgesetzt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2668" y="2738437"/>
            <a:ext cx="2805112" cy="1038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ABNAHMETESTS</a:t>
            </a:r>
            <a:r>
              <a:rPr b="1" sz="1050" i="0" u="none">
                <a:solidFill>
                  <a:srgbClr val="64748B"/>
                </a:solidFill>
                <a:latin typeface="Inter"/>
              </a:rPr>
              <a:t> </a:t>
            </a:r>
            <a:r>
              <a:rPr b="1" sz="975" i="0" u="none">
                <a:solidFill>
                  <a:srgbClr val="15803D"/>
                </a:solidFill>
                <a:latin typeface="Inter"/>
              </a:rPr>
              <a:t>Bestanden ohne Fehler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1118" y="2738437"/>
            <a:ext cx="2805112" cy="1038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PROJEKTZEIT</a:t>
            </a:r>
            <a:r>
              <a:rPr b="1" sz="1050" i="0" u="none">
                <a:solidFill>
                  <a:srgbClr val="64748B"/>
                </a:solidFill>
                <a:latin typeface="Inter"/>
              </a:rPr>
              <a:t> </a:t>
            </a:r>
            <a:r>
              <a:rPr b="1" sz="975" i="0" u="none">
                <a:solidFill>
                  <a:srgbClr val="64748B"/>
                </a:solidFill>
                <a:latin typeface="Inter"/>
              </a:rPr>
              <a:t>Plan: 39h (+6,4 %)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97656" y="4481512"/>
            <a:ext cx="1278731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5803D"/>
                </a:solidFill>
                <a:latin typeface="Inter"/>
              </a:rPr>
              <a:t>🎉 Proof of Concept: ERFOLGREICH ABGESCHLOSSEN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97656" y="4767262"/>
            <a:ext cx="12787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166534"/>
                </a:solidFill>
                <a:latin typeface="Inter"/>
              </a:rPr>
              <a:t>Checkmk Raw Edition hat sich als ideale zentrale Monitoring-Lösung für die Müller &amp; Partner GmbH bewiesen.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825" y="3014662"/>
            <a:ext cx="2667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166534"/>
                </a:solidFill>
                <a:latin typeface="Inter"/>
              </a:rPr>
              <a:t>100 %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3275" y="3014662"/>
            <a:ext cx="2667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0284C7"/>
                </a:solidFill>
                <a:latin typeface="Inter"/>
              </a:rPr>
              <a:t>60 %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725" y="3014662"/>
            <a:ext cx="2667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166534"/>
                </a:solidFill>
                <a:latin typeface="Inter"/>
              </a:rPr>
              <a:t>13 /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0175" y="3014662"/>
            <a:ext cx="2667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0F172A"/>
                </a:solidFill>
                <a:latin typeface="Inter"/>
              </a:rPr>
              <a:t>41,5 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933700"/>
            <a:ext cx="3581400" cy="1800225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05300" y="2933700"/>
            <a:ext cx="3581400" cy="1800225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33700"/>
            <a:ext cx="3581400" cy="1800225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1525" y="3200400"/>
            <a:ext cx="1619250" cy="228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4724400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2933700"/>
            <a:ext cx="35814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3400" y="2933700"/>
            <a:ext cx="9525" cy="18002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05275" y="2933700"/>
            <a:ext cx="9525" cy="18002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43425" y="3200400"/>
            <a:ext cx="1666875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5300" y="4724400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5300" y="2933700"/>
            <a:ext cx="3581400" cy="3810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5300" y="2933700"/>
            <a:ext cx="9525" cy="18002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77175" y="2933700"/>
            <a:ext cx="9525" cy="18002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15325" y="3200400"/>
            <a:ext cx="1743075" cy="2286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7200" y="4724400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7200" y="2933700"/>
            <a:ext cx="3581400" cy="381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7200" y="2933700"/>
            <a:ext cx="9525" cy="18002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649075" y="2933700"/>
            <a:ext cx="9525" cy="18002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400" y="419100"/>
            <a:ext cx="11658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HANDLUNGSEMPFEHLUNG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657225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Inter"/>
              </a:rPr>
              <a:t>Empfohlener Rollout-Fahrplan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775" y="32385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75985"/>
                </a:solidFill>
                <a:latin typeface="Inter"/>
              </a:rPr>
              <a:t>PHASE 1 (1–2 WOCHEN)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3543300"/>
            <a:ext cx="40755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Pilotbetrieb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8675" y="3238500"/>
            <a:ext cx="15716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Inter"/>
              </a:rPr>
              <a:t>PHASE 2 (2–4 WOCHEN)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3425" y="3543300"/>
            <a:ext cx="40755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Vollständiger Rollout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0575" y="3238500"/>
            <a:ext cx="16478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Inter"/>
              </a:rPr>
              <a:t>PHASE 3 (FORTLAUFEND)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5325" y="3543300"/>
            <a:ext cx="3876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Erweiterung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525" y="3857625"/>
            <a:ext cx="3881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Installation auf dediziertem Server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525" y="4095750"/>
            <a:ext cx="3881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Anbindung von 5–10 Produktivsystemen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525" y="4333875"/>
            <a:ext cx="3881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Einweisung der IT-Mitarbeiter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3425" y="3857625"/>
            <a:ext cx="3881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Migration aller Server &amp; Clients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3425" y="4095750"/>
            <a:ext cx="3881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Produktive E-Mail-Alarmierung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3425" y="4333875"/>
            <a:ext cx="3881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Feineinstellung aller Schwellwerte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5325" y="3857625"/>
            <a:ext cx="38766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SNMP-Monitoring für Switches/Router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5325" y="4095750"/>
            <a:ext cx="38766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Log-Monitoring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5325" y="4333875"/>
            <a:ext cx="38766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Evaluation Enterprise Upgrade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414587"/>
            <a:ext cx="5891658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3005137"/>
            <a:ext cx="5891658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3595687"/>
            <a:ext cx="5891658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3400" y="4186237"/>
            <a:ext cx="5891658" cy="476250"/>
          </a:xfrm>
          <a:prstGeom prst="roundRect">
            <a:avLst>
              <a:gd name="adj" fmla="val 24000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4776787"/>
            <a:ext cx="5891658" cy="476250"/>
          </a:xfrm>
          <a:prstGeom prst="roundRect">
            <a:avLst>
              <a:gd name="adj" fmla="val 24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858" y="2309812"/>
            <a:ext cx="4928741" cy="3048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383" y="2319337"/>
            <a:ext cx="4909691" cy="3028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419100"/>
            <a:ext cx="11658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PRAXIS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57225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Inter"/>
              </a:rPr>
              <a:t>Szenario der Live-Demonstration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2547937"/>
            <a:ext cx="5644008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1. Web-GUI &amp; Dashboard: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Gesamtübersicht des Systemstatus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3138487"/>
            <a:ext cx="5644008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2. Host- &amp; Service-Status: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Prüfung aller aktiven Überwachungen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3729037"/>
            <a:ext cx="5644008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3. Performance-Graphen: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Auswertung von CPU &amp; TCP-Sitzungen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4319587"/>
            <a:ext cx="5644008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4. Live-Störung: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Stopp von Apache (</a:t>
            </a:r>
            <a:r>
              <a:rPr b="0" sz="975" i="0" u="none">
                <a:solidFill>
                  <a:srgbClr val="0F172A"/>
                </a:solidFill>
                <a:latin typeface="Inter"/>
              </a:rPr>
              <a:t>systemctl stop apache2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50" y="4910137"/>
            <a:ext cx="5644008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5. Alarm &amp; Recovery: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Statuswechsel im Dashboard &amp; Neustart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3062" y="4010025"/>
            <a:ext cx="8905875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3062" y="4010025"/>
            <a:ext cx="89058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6343" y="2428875"/>
            <a:ext cx="21193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Inter"/>
              </a:rPr>
              <a:t>FRAGEN &amp; DISKUSSION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046" y="2667000"/>
            <a:ext cx="11263907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Inter"/>
              </a:rPr>
              <a:t>Vielen Dank für Ihre Aufmerksamkeit!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27734" y="3381375"/>
            <a:ext cx="653653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94A3B8"/>
                </a:solidFill>
                <a:latin typeface="Inter"/>
              </a:rPr>
              <a:t>Haben Sie Fragen zur Präsentation oder zum Projekt?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2562" y="4248150"/>
            <a:ext cx="190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CBD5E1"/>
                </a:solidFill>
                <a:latin typeface="Inter"/>
              </a:rPr>
              <a:t>Projekt:</a:t>
            </a:r>
            <a:r>
              <a:rPr b="0" sz="1125" i="0" u="none">
                <a:solidFill>
                  <a:srgbClr val="CBD5E1"/>
                </a:solidFill>
                <a:latin typeface="Inter"/>
              </a:rPr>
              <a:t> IT-Monitoring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9203" y="4248150"/>
            <a:ext cx="32265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CBD5E1"/>
                </a:solidFill>
                <a:latin typeface="Inter"/>
              </a:rPr>
              <a:t>Auftraggeber:</a:t>
            </a:r>
            <a:r>
              <a:rPr b="0" sz="1125" i="0" u="none">
                <a:solidFill>
                  <a:srgbClr val="CBD5E1"/>
                </a:solidFill>
                <a:latin typeface="Inter"/>
              </a:rPr>
              <a:t> Müller &amp; Partner GmbH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2903" y="4248150"/>
            <a:ext cx="2750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CBD5E1"/>
                </a:solidFill>
                <a:latin typeface="Inter"/>
              </a:rPr>
              <a:t>Team:</a:t>
            </a:r>
            <a:r>
              <a:rPr b="0" sz="1125" i="0" u="none">
                <a:solidFill>
                  <a:srgbClr val="CBD5E1"/>
                </a:solidFill>
                <a:latin typeface="Inter"/>
              </a:rPr>
              <a:t> Grone Umschulungsteam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52271" y="4248150"/>
            <a:ext cx="21074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CBD5E1"/>
                </a:solidFill>
                <a:latin typeface="Inter"/>
              </a:rPr>
              <a:t>Datum:</a:t>
            </a:r>
            <a:r>
              <a:rPr b="0" sz="1125" i="0" u="none">
                <a:solidFill>
                  <a:srgbClr val="CBD5E1"/>
                </a:solidFill>
                <a:latin typeface="Inter"/>
              </a:rPr>
              <a:t> September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04900" y="1562100"/>
            <a:ext cx="99822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4900" y="2390775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4900" y="2390775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738312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254317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4900" y="990600"/>
            <a:ext cx="2712839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Inter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0275" y="1704975"/>
            <a:ext cx="89820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https://eu-images.contentstack.com/v3/assets/blt8eb3cdfc1fce5194/bltab000fc749456806/6a556bf519775d6c188f64f3/data-center-network-redundancy.jpg?width=1280&amp;auto=webp&amp;quality=80&amp;disable=upscale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0275" y="2057400"/>
            <a:ext cx="3655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www.datacenterknowledge.com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0275" y="2586037"/>
            <a:ext cx="6560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https://www.n-able.com/wp-content/uploads/2021/03/comp-NC-product-1200x750.png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0275" y="2786062"/>
            <a:ext cx="2286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www.n-able.com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